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1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x="18288000" cy="10287000"/>
  <p:notesSz cx="6858000" cy="9144000"/>
  <p:embeddedFontLst>
    <p:embeddedFont>
      <p:font typeface="Cambria Bold" charset="1" panose="02040803050406030204"/>
      <p:regular r:id="rId34"/>
    </p:embeddedFont>
    <p:embeddedFont>
      <p:font typeface="Poppins Bold Italics" charset="1" panose="00000800000000000000"/>
      <p:regular r:id="rId35"/>
    </p:embeddedFont>
    <p:embeddedFont>
      <p:font typeface="Cambria" charset="1" panose="02040503050406030204"/>
      <p:regular r:id="rId36"/>
    </p:embeddedFont>
    <p:embeddedFont>
      <p:font typeface="Calibri (MS) Bold" charset="1" panose="020F0702030404030204"/>
      <p:regular r:id="rId37"/>
    </p:embeddedFont>
    <p:embeddedFont>
      <p:font typeface="Calibri (MS)" charset="1" panose="020F0502020204030204"/>
      <p:regular r:id="rId39"/>
    </p:embeddedFont>
    <p:embeddedFont>
      <p:font typeface="Calibri (MS) Bold Italics" charset="1" panose="020F07020304040A0204"/>
      <p:regular r:id="rId43"/>
    </p:embeddedFont>
    <p:embeddedFont>
      <p:font typeface="Calibri (MS) Italics" charset="1" panose="020F05020202040A0204"/>
      <p:regular r:id="rId50"/>
    </p:embeddedFont>
    <p:embeddedFont>
      <p:font typeface="Open Sans Bold" charset="1" panose="020B0806030504020204"/>
      <p:regular r:id="rId5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notesMasters/notesMaster1.xml" Type="http://schemas.openxmlformats.org/officeDocument/2006/relationships/notesMaster"/><Relationship Id="rId32" Target="theme/theme2.xml" Type="http://schemas.openxmlformats.org/officeDocument/2006/relationships/theme"/><Relationship Id="rId33" Target="notesSlides/notesSlide1.xml" Type="http://schemas.openxmlformats.org/officeDocument/2006/relationships/notesSlide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notesSlides/notesSlide2.xml" Type="http://schemas.openxmlformats.org/officeDocument/2006/relationships/notesSlide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notesSlides/notesSlide3.xml" Type="http://schemas.openxmlformats.org/officeDocument/2006/relationships/notesSlide"/><Relationship Id="rId41" Target="notesSlides/notesSlide4.xml" Type="http://schemas.openxmlformats.org/officeDocument/2006/relationships/notesSlide"/><Relationship Id="rId42" Target="notesSlides/notesSlide5.xml" Type="http://schemas.openxmlformats.org/officeDocument/2006/relationships/notesSlide"/><Relationship Id="rId43" Target="fonts/font43.fntdata" Type="http://schemas.openxmlformats.org/officeDocument/2006/relationships/font"/><Relationship Id="rId44" Target="notesSlides/notesSlide6.xml" Type="http://schemas.openxmlformats.org/officeDocument/2006/relationships/notesSlide"/><Relationship Id="rId45" Target="notesSlides/notesSlide7.xml" Type="http://schemas.openxmlformats.org/officeDocument/2006/relationships/notesSlide"/><Relationship Id="rId46" Target="notesSlides/notesSlide8.xml" Type="http://schemas.openxmlformats.org/officeDocument/2006/relationships/notesSlide"/><Relationship Id="rId47" Target="notesSlides/notesSlide9.xml" Type="http://schemas.openxmlformats.org/officeDocument/2006/relationships/notesSlide"/><Relationship Id="rId48" Target="notesSlides/notesSlide10.xml" Type="http://schemas.openxmlformats.org/officeDocument/2006/relationships/notesSlide"/><Relationship Id="rId49" Target="notesSlides/notesSlide11.xml" Type="http://schemas.openxmlformats.org/officeDocument/2006/relationships/notesSlide"/><Relationship Id="rId5" Target="tableStyles.xml" Type="http://schemas.openxmlformats.org/officeDocument/2006/relationships/tableStyles"/><Relationship Id="rId50" Target="fonts/font50.fntdata" Type="http://schemas.openxmlformats.org/officeDocument/2006/relationships/font"/><Relationship Id="rId51" Target="notesSlides/notesSlide12.xml" Type="http://schemas.openxmlformats.org/officeDocument/2006/relationships/notesSlide"/><Relationship Id="rId52" Target="notesSlides/notesSlide13.xml" Type="http://schemas.openxmlformats.org/officeDocument/2006/relationships/notesSlide"/><Relationship Id="rId53" Target="notesSlides/notesSlide14.xml" Type="http://schemas.openxmlformats.org/officeDocument/2006/relationships/notesSlide"/><Relationship Id="rId54" Target="notesSlides/notesSlide15.xml" Type="http://schemas.openxmlformats.org/officeDocument/2006/relationships/notesSlide"/><Relationship Id="rId55" Target="fonts/font55.fntdata" Type="http://schemas.openxmlformats.org/officeDocument/2006/relationships/font"/><Relationship Id="rId56" Target="notesSlides/notesSlide16.xml" Type="http://schemas.openxmlformats.org/officeDocument/2006/relationships/notesSlide"/><Relationship Id="rId57" Target="notesSlides/notesSlide17.xml" Type="http://schemas.openxmlformats.org/officeDocument/2006/relationships/notesSlide"/><Relationship Id="rId58" Target="notesSlides/notesSlide18.xml" Type="http://schemas.openxmlformats.org/officeDocument/2006/relationships/notesSlide"/><Relationship Id="rId59" Target="notesSlides/notesSlide19.xml" Type="http://schemas.openxmlformats.org/officeDocument/2006/relationships/notesSlide"/><Relationship Id="rId6" Target="slides/slide1.xml" Type="http://schemas.openxmlformats.org/officeDocument/2006/relationships/slide"/><Relationship Id="rId60" Target="notesSlides/notesSlide20.xml" Type="http://schemas.openxmlformats.org/officeDocument/2006/relationships/notesSlide"/><Relationship Id="rId61" Target="notesSlides/notesSlide21.xml" Type="http://schemas.openxmlformats.org/officeDocument/2006/relationships/notesSlide"/><Relationship Id="rId62" Target="notesSlides/notesSlide22.xml" Type="http://schemas.openxmlformats.org/officeDocument/2006/relationships/notes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Relationship Id="rId6" Target="../media/image4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.jpe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.jpeg" Type="http://schemas.openxmlformats.org/officeDocument/2006/relationships/image"/><Relationship Id="rId4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.jpeg" Type="http://schemas.openxmlformats.org/officeDocument/2006/relationships/image"/><Relationship Id="rId4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.jpeg" Type="http://schemas.openxmlformats.org/officeDocument/2006/relationships/image"/><Relationship Id="rId4" Target="../media/image6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.jpeg" Type="http://schemas.openxmlformats.org/officeDocument/2006/relationships/image"/><Relationship Id="rId4" Target="../media/image6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2.jpe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2.jpe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2.jpeg" Type="http://schemas.openxmlformats.org/officeDocument/2006/relationships/image"/><Relationship Id="rId4" Target="../media/image15.png" Type="http://schemas.openxmlformats.org/officeDocument/2006/relationships/image"/><Relationship Id="rId5" Target="../media/image16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2.jpeg" Type="http://schemas.openxmlformats.org/officeDocument/2006/relationships/image"/><Relationship Id="rId4" Target="../media/image8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Relationship Id="rId3" Target="../media/image2.jpe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1.xml" Type="http://schemas.openxmlformats.org/officeDocument/2006/relationships/notesSlide"/><Relationship Id="rId3" Target="../media/image2.jpe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2.xml" Type="http://schemas.openxmlformats.org/officeDocument/2006/relationships/notesSlide"/><Relationship Id="rId3" Target="../media/image19.jpeg" Type="http://schemas.openxmlformats.org/officeDocument/2006/relationships/image"/><Relationship Id="rId4" Target="../media/image20.jpeg" Type="http://schemas.openxmlformats.org/officeDocument/2006/relationships/image"/><Relationship Id="rId5" Target="../media/image2.jpeg" Type="http://schemas.openxmlformats.org/officeDocument/2006/relationships/image"/><Relationship Id="rId6" Target="../media/image4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7612380"/>
            <a:ext cx="18242280" cy="2674620"/>
            <a:chOff x="0" y="0"/>
            <a:chExt cx="24323040" cy="3566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23039" cy="3566160"/>
            </a:xfrm>
            <a:custGeom>
              <a:avLst/>
              <a:gdLst/>
              <a:ahLst/>
              <a:cxnLst/>
              <a:rect r="r" b="b" t="t" l="l"/>
              <a:pathLst>
                <a:path h="3566160" w="24323039">
                  <a:moveTo>
                    <a:pt x="0" y="0"/>
                  </a:moveTo>
                  <a:lnTo>
                    <a:pt x="24323039" y="0"/>
                  </a:lnTo>
                  <a:lnTo>
                    <a:pt x="24323039" y="3566160"/>
                  </a:lnTo>
                  <a:lnTo>
                    <a:pt x="0" y="3566160"/>
                  </a:ln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-2495434"/>
            <a:ext cx="10449679" cy="9559174"/>
            <a:chOff x="0" y="0"/>
            <a:chExt cx="10585984" cy="968386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585984" cy="9683863"/>
            </a:xfrm>
            <a:custGeom>
              <a:avLst/>
              <a:gdLst/>
              <a:ahLst/>
              <a:cxnLst/>
              <a:rect r="r" b="b" t="t" l="l"/>
              <a:pathLst>
                <a:path h="9683863" w="10585984">
                  <a:moveTo>
                    <a:pt x="0" y="0"/>
                  </a:moveTo>
                  <a:lnTo>
                    <a:pt x="10585984" y="0"/>
                  </a:lnTo>
                  <a:lnTo>
                    <a:pt x="10585984" y="9683863"/>
                  </a:lnTo>
                  <a:lnTo>
                    <a:pt x="0" y="968386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780" t="0" r="-15780" b="5863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0585984" cy="9693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760"/>
                </a:lnSpc>
              </a:pPr>
              <a:r>
                <a:rPr lang="en-US" b="true" sz="9800" spc="1837">
                  <a:solidFill>
                    <a:srgbClr val="1C7293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TEAM BEYOND64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34440" y="3963887"/>
            <a:ext cx="7433974" cy="2359227"/>
            <a:chOff x="0" y="0"/>
            <a:chExt cx="9911966" cy="314563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911966" cy="3145636"/>
            </a:xfrm>
            <a:custGeom>
              <a:avLst/>
              <a:gdLst/>
              <a:ahLst/>
              <a:cxnLst/>
              <a:rect r="r" b="b" t="t" l="l"/>
              <a:pathLst>
                <a:path h="3145636" w="9911966">
                  <a:moveTo>
                    <a:pt x="0" y="0"/>
                  </a:moveTo>
                  <a:lnTo>
                    <a:pt x="9911966" y="0"/>
                  </a:lnTo>
                  <a:lnTo>
                    <a:pt x="9911966" y="3145636"/>
                  </a:lnTo>
                  <a:lnTo>
                    <a:pt x="0" y="31456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6182" r="-99264" b="-48506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9911966" cy="3174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59"/>
                </a:lnSpc>
              </a:pPr>
              <a:r>
                <a:rPr lang="en-US" b="true" sz="4299" i="true">
                  <a:solidFill>
                    <a:srgbClr val="21295C"/>
                  </a:solidFill>
                  <a:latin typeface="Poppins Bold Italics"/>
                  <a:ea typeface="Poppins Bold Italics"/>
                  <a:cs typeface="Poppins Bold Italics"/>
                  <a:sym typeface="Poppins Bold Italics"/>
                </a:rPr>
                <a:t>Quantum Phase Recognition from Scarce, Noisy Measurements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34440" y="6103620"/>
            <a:ext cx="1165860" cy="960120"/>
            <a:chOff x="0" y="0"/>
            <a:chExt cx="1554480" cy="12801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544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5661" t="0" r="-55661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155448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b="true" sz="4500">
                  <a:solidFill>
                    <a:srgbClr val="8FA6D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64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400300" y="6103620"/>
            <a:ext cx="685800" cy="960120"/>
            <a:chOff x="0" y="0"/>
            <a:chExt cx="914400" cy="12801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29624" t="0" r="-129624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9144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>
                  <a:solidFill>
                    <a:srgbClr val="6E86C7"/>
                  </a:solidFill>
                  <a:latin typeface="Cambria"/>
                  <a:ea typeface="Cambria"/>
                  <a:cs typeface="Cambria"/>
                  <a:sym typeface="Cambria"/>
                </a:rPr>
                <a:t>→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086100" y="6103620"/>
            <a:ext cx="1165860" cy="960120"/>
            <a:chOff x="0" y="0"/>
            <a:chExt cx="1554480" cy="12801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544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5661" t="0" r="-55661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155448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b="true" sz="4500">
                  <a:solidFill>
                    <a:srgbClr val="8FA6D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16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4251960" y="6103620"/>
            <a:ext cx="685800" cy="960120"/>
            <a:chOff x="0" y="0"/>
            <a:chExt cx="914400" cy="12801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144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29624" t="0" r="-129624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9144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>
                  <a:solidFill>
                    <a:srgbClr val="6E86C7"/>
                  </a:solidFill>
                  <a:latin typeface="Cambria"/>
                  <a:ea typeface="Cambria"/>
                  <a:cs typeface="Cambria"/>
                  <a:sym typeface="Cambria"/>
                </a:rPr>
                <a:t>→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4937760" y="6103620"/>
            <a:ext cx="1165860" cy="960120"/>
            <a:chOff x="0" y="0"/>
            <a:chExt cx="1554480" cy="12801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544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5661" t="0" r="-55661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155448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b="true" sz="4500">
                  <a:solidFill>
                    <a:srgbClr val="8FA6D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103620" y="6103620"/>
            <a:ext cx="685800" cy="960120"/>
            <a:chOff x="0" y="0"/>
            <a:chExt cx="914400" cy="12801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144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29624" t="0" r="-129624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9144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>
                  <a:solidFill>
                    <a:srgbClr val="6E86C7"/>
                  </a:solidFill>
                  <a:latin typeface="Cambria"/>
                  <a:ea typeface="Cambria"/>
                  <a:cs typeface="Cambria"/>
                  <a:sym typeface="Cambria"/>
                </a:rPr>
                <a:t>→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789420" y="6103620"/>
            <a:ext cx="1165860" cy="960120"/>
            <a:chOff x="0" y="0"/>
            <a:chExt cx="1554480" cy="12801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5544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5661" t="0" r="-55661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155448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b="true" sz="4500">
                  <a:solidFill>
                    <a:srgbClr val="8FA6D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34440" y="6926580"/>
            <a:ext cx="10972800" cy="480060"/>
            <a:chOff x="0" y="0"/>
            <a:chExt cx="14630400" cy="6400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14630400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50">
                  <a:solidFill>
                    <a:srgbClr val="8FA6D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COPY BUDGET PER HIDDEN STATE — EACH MEASUREMENT DESTROYS THE STATE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28700" y="8243503"/>
            <a:ext cx="7639714" cy="1019268"/>
            <a:chOff x="0" y="0"/>
            <a:chExt cx="10186286" cy="135902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186285" cy="1359024"/>
            </a:xfrm>
            <a:custGeom>
              <a:avLst/>
              <a:gdLst/>
              <a:ahLst/>
              <a:cxnLst/>
              <a:rect r="r" b="b" t="t" l="l"/>
              <a:pathLst>
                <a:path h="1359024" w="10186285">
                  <a:moveTo>
                    <a:pt x="0" y="0"/>
                  </a:moveTo>
                  <a:lnTo>
                    <a:pt x="10186285" y="0"/>
                  </a:lnTo>
                  <a:lnTo>
                    <a:pt x="10186285" y="1359024"/>
                  </a:lnTo>
                  <a:lnTo>
                    <a:pt x="0" y="135902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6121" r="-43628" b="-143405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10186286" cy="14161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79"/>
                </a:lnSpc>
              </a:pPr>
              <a:r>
                <a:rPr lang="en-US" sz="28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Nadia Walid   ·   Menna Magdy   ·   Basmala Azab  ·   Omar  Ayman ·   Shady Hany</a:t>
              </a: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0">
            <a:off x="12604959" y="411634"/>
            <a:ext cx="5399169" cy="1552938"/>
          </a:xfrm>
          <a:custGeom>
            <a:avLst/>
            <a:gdLst/>
            <a:ahLst/>
            <a:cxnLst/>
            <a:rect r="r" b="b" t="t" l="l"/>
            <a:pathLst>
              <a:path h="1552938" w="5399169">
                <a:moveTo>
                  <a:pt x="0" y="0"/>
                </a:moveTo>
                <a:lnTo>
                  <a:pt x="5399169" y="0"/>
                </a:lnTo>
                <a:lnTo>
                  <a:pt x="5399169" y="1552938"/>
                </a:lnTo>
                <a:lnTo>
                  <a:pt x="0" y="15529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9693564" y="2387023"/>
            <a:ext cx="8131747" cy="7149430"/>
          </a:xfrm>
          <a:custGeom>
            <a:avLst/>
            <a:gdLst/>
            <a:ahLst/>
            <a:cxnLst/>
            <a:rect r="r" b="b" t="t" l="l"/>
            <a:pathLst>
              <a:path h="7149430" w="8131747">
                <a:moveTo>
                  <a:pt x="0" y="0"/>
                </a:moveTo>
                <a:lnTo>
                  <a:pt x="8131748" y="0"/>
                </a:lnTo>
                <a:lnTo>
                  <a:pt x="8131748" y="7149430"/>
                </a:lnTo>
                <a:lnTo>
                  <a:pt x="0" y="71494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5743" t="-21273" r="-24553" b="-8215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0972800" cy="548640"/>
            <a:chOff x="0" y="0"/>
            <a:chExt cx="14630400" cy="7315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46304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299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CORE CONFLICT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-244588"/>
            <a:ext cx="16596360" cy="3738358"/>
            <a:chOff x="0" y="0"/>
            <a:chExt cx="22128480" cy="498447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4984477"/>
            </a:xfrm>
            <a:custGeom>
              <a:avLst/>
              <a:gdLst/>
              <a:ahLst/>
              <a:cxnLst/>
              <a:rect r="r" b="b" t="t" l="l"/>
              <a:pathLst>
                <a:path h="4984477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4984477"/>
                  </a:lnTo>
                  <a:lnTo>
                    <a:pt x="0" y="49844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992" r="0" b="-301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28480" cy="49940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Quantum Data Is Scarce - By Design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419320" y="9710928"/>
            <a:ext cx="685800" cy="411480"/>
            <a:chOff x="0" y="0"/>
            <a:chExt cx="91440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A6B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02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13435" y="2665095"/>
            <a:ext cx="8042910" cy="3173730"/>
            <a:chOff x="0" y="0"/>
            <a:chExt cx="10723880" cy="4231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723880" cy="4231640"/>
            </a:xfrm>
            <a:custGeom>
              <a:avLst/>
              <a:gdLst/>
              <a:ahLst/>
              <a:cxnLst/>
              <a:rect r="r" b="b" t="t" l="l"/>
              <a:pathLst>
                <a:path h="4231640" w="1072388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10576687" y="0"/>
                  </a:lnTo>
                  <a:cubicBezTo>
                    <a:pt x="10657967" y="0"/>
                    <a:pt x="10723880" y="65913"/>
                    <a:pt x="10723880" y="147193"/>
                  </a:cubicBezTo>
                  <a:lnTo>
                    <a:pt x="10723880" y="4084447"/>
                  </a:lnTo>
                  <a:cubicBezTo>
                    <a:pt x="10723880" y="4165727"/>
                    <a:pt x="10657967" y="4231640"/>
                    <a:pt x="10576687" y="4231640"/>
                  </a:cubicBezTo>
                  <a:lnTo>
                    <a:pt x="147193" y="4231640"/>
                  </a:lnTo>
                  <a:cubicBezTo>
                    <a:pt x="65913" y="4231640"/>
                    <a:pt x="0" y="4165727"/>
                    <a:pt x="0" y="4084447"/>
                  </a:cubicBezTo>
                  <a:close/>
                </a:path>
              </a:pathLst>
            </a:custGeom>
            <a:solidFill>
              <a:srgbClr val="FBEAEA"/>
            </a:solidFill>
            <a:ln w="19050" cap="sq">
              <a:solidFill>
                <a:srgbClr val="F3C6C6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234440" y="2880360"/>
            <a:ext cx="960120" cy="960120"/>
            <a:chOff x="0" y="0"/>
            <a:chExt cx="1280160" cy="12801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12801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C0392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✗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194560" y="2948940"/>
            <a:ext cx="6446520" cy="960120"/>
            <a:chOff x="0" y="0"/>
            <a:chExt cx="8595360" cy="12801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5953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828" r="0" b="-8082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85953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Full state tomography is impossible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34440" y="4046220"/>
            <a:ext cx="7132320" cy="1645920"/>
            <a:chOff x="0" y="0"/>
            <a:chExt cx="9509760" cy="21945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5097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9509760" cy="2242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>
                  <a:solidFill>
                    <a:srgbClr val="4A4A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Reconstructing a 16-qubit state exactly would require an exponentially growing number of copies — far beyond what any oracle can offer.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385935" y="2665095"/>
            <a:ext cx="8042910" cy="3173730"/>
            <a:chOff x="0" y="0"/>
            <a:chExt cx="10723880" cy="42316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723880" cy="4231640"/>
            </a:xfrm>
            <a:custGeom>
              <a:avLst/>
              <a:gdLst/>
              <a:ahLst/>
              <a:cxnLst/>
              <a:rect r="r" b="b" t="t" l="l"/>
              <a:pathLst>
                <a:path h="4231640" w="1072388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10576687" y="0"/>
                  </a:lnTo>
                  <a:cubicBezTo>
                    <a:pt x="10657967" y="0"/>
                    <a:pt x="10723880" y="65913"/>
                    <a:pt x="10723880" y="147193"/>
                  </a:cubicBezTo>
                  <a:lnTo>
                    <a:pt x="10723880" y="4084447"/>
                  </a:lnTo>
                  <a:cubicBezTo>
                    <a:pt x="10723880" y="4165727"/>
                    <a:pt x="10657967" y="4231640"/>
                    <a:pt x="10576687" y="4231640"/>
                  </a:cubicBezTo>
                  <a:lnTo>
                    <a:pt x="147193" y="4231640"/>
                  </a:lnTo>
                  <a:cubicBezTo>
                    <a:pt x="65913" y="4231640"/>
                    <a:pt x="0" y="4165727"/>
                    <a:pt x="0" y="4084447"/>
                  </a:cubicBezTo>
                  <a:close/>
                </a:path>
              </a:pathLst>
            </a:custGeom>
            <a:solidFill>
              <a:srgbClr val="E7F5F0"/>
            </a:solidFill>
            <a:ln w="19050" cap="sq">
              <a:solidFill>
                <a:srgbClr val="BEE6D8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9806940" y="2880360"/>
            <a:ext cx="960120" cy="960120"/>
            <a:chOff x="0" y="0"/>
            <a:chExt cx="1280160" cy="12801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12801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02C39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✓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767060" y="2948940"/>
            <a:ext cx="6446520" cy="960120"/>
            <a:chOff x="0" y="0"/>
            <a:chExt cx="8595360" cy="12801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5953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828" r="0" b="-80828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859536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We get 64 copies per hidden state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806940" y="4046220"/>
            <a:ext cx="7132320" cy="1645920"/>
            <a:chOff x="0" y="0"/>
            <a:chExt cx="9509760" cy="21945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5097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9509760" cy="2242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>
                  <a:solidFill>
                    <a:srgbClr val="4A4A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hard limit enforced by the oracle. One measure() call consumes one copy — the state is destroyed the instant it's read.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822960" y="6240780"/>
            <a:ext cx="16596360" cy="2811780"/>
            <a:chOff x="0" y="0"/>
            <a:chExt cx="22128480" cy="37490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2128480" cy="3749040"/>
            </a:xfrm>
            <a:custGeom>
              <a:avLst/>
              <a:gdLst/>
              <a:ahLst/>
              <a:cxnLst/>
              <a:rect r="r" b="b" t="t" l="l"/>
              <a:pathLst>
                <a:path h="3749040" w="22128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1982176" y="0"/>
                  </a:lnTo>
                  <a:cubicBezTo>
                    <a:pt x="22062948" y="0"/>
                    <a:pt x="22128480" y="65532"/>
                    <a:pt x="22128480" y="146304"/>
                  </a:cubicBezTo>
                  <a:lnTo>
                    <a:pt x="22128480" y="3602736"/>
                  </a:lnTo>
                  <a:cubicBezTo>
                    <a:pt x="22128480" y="3683508"/>
                    <a:pt x="22062948" y="3749040"/>
                    <a:pt x="21982176" y="3749040"/>
                  </a:cubicBezTo>
                  <a:lnTo>
                    <a:pt x="146304" y="3749040"/>
                  </a:lnTo>
                  <a:cubicBezTo>
                    <a:pt x="65532" y="3749040"/>
                    <a:pt x="0" y="3683508"/>
                    <a:pt x="0" y="3602736"/>
                  </a:cubicBezTo>
                  <a:close/>
                </a:path>
              </a:pathLst>
            </a:custGeom>
            <a:solidFill>
              <a:srgbClr val="21295C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371600" y="6556248"/>
            <a:ext cx="8229600" cy="548640"/>
            <a:chOff x="0" y="0"/>
            <a:chExt cx="10972800" cy="7315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109728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299">
                  <a:solidFill>
                    <a:srgbClr val="02C39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TECHNICAL DILEMMA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463040" y="7113270"/>
            <a:ext cx="15316200" cy="161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5"/>
              </a:lnSpc>
            </a:pPr>
            <a:r>
              <a:rPr lang="en-US" sz="28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Classical baselines are strong — even in the starved regime </a:t>
            </a:r>
            <a:r>
              <a:rPr lang="en-US" sz="2850" b="true">
                <a:solidFill>
                  <a:srgbClr val="02C39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 ∈ {4, 8, 16}</a:t>
            </a:r>
            <a:r>
              <a:rPr lang="en-US" sz="28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.  That's exactly where any quantum protocol has to earn its keep, under the </a:t>
            </a:r>
            <a:r>
              <a:rPr lang="en-US" sz="2850" b="true">
                <a:solidFill>
                  <a:srgbClr val="02C39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same 64-copy budget</a:t>
            </a:r>
            <a:r>
              <a:rPr lang="en-US" sz="285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as every classical comparison.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0972800" cy="548640"/>
            <a:chOff x="0" y="0"/>
            <a:chExt cx="14630400" cy="7315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46304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299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 BEYOND64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69848" y="-114721"/>
            <a:ext cx="16596360" cy="3776131"/>
            <a:chOff x="0" y="0"/>
            <a:chExt cx="22128480" cy="503484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5034842"/>
            </a:xfrm>
            <a:custGeom>
              <a:avLst/>
              <a:gdLst/>
              <a:ahLst/>
              <a:cxnLst/>
              <a:rect r="r" b="b" t="t" l="l"/>
              <a:pathLst>
                <a:path h="5034842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5034842"/>
                  </a:lnTo>
                  <a:lnTo>
                    <a:pt x="0" y="50348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292" r="0" b="-198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28480" cy="50443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Our Focus: Three Targets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419320" y="9710928"/>
            <a:ext cx="685800" cy="411480"/>
            <a:chOff x="0" y="0"/>
            <a:chExt cx="91440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A6B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03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2674620"/>
            <a:ext cx="5390388" cy="4114800"/>
            <a:chOff x="0" y="0"/>
            <a:chExt cx="7187184" cy="548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187185" cy="5486400"/>
            </a:xfrm>
            <a:custGeom>
              <a:avLst/>
              <a:gdLst/>
              <a:ahLst/>
              <a:cxnLst/>
              <a:rect r="r" b="b" t="t" l="l"/>
              <a:pathLst>
                <a:path h="5486400" w="7187185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7040880" y="0"/>
                  </a:lnTo>
                  <a:cubicBezTo>
                    <a:pt x="7121652" y="0"/>
                    <a:pt x="7187185" y="65532"/>
                    <a:pt x="7187185" y="146304"/>
                  </a:cubicBezTo>
                  <a:lnTo>
                    <a:pt x="7187185" y="5340096"/>
                  </a:lnTo>
                  <a:cubicBezTo>
                    <a:pt x="7187185" y="5420868"/>
                    <a:pt x="7121652" y="5486400"/>
                    <a:pt x="7040880" y="5486400"/>
                  </a:cubicBezTo>
                  <a:lnTo>
                    <a:pt x="146304" y="5486400"/>
                  </a:lnTo>
                  <a:cubicBezTo>
                    <a:pt x="65532" y="5486400"/>
                    <a:pt x="0" y="5420868"/>
                    <a:pt x="0" y="5340096"/>
                  </a:cubicBezTo>
                  <a:close/>
                </a:path>
              </a:pathLst>
            </a:custGeom>
            <a:solidFill>
              <a:srgbClr val="F2F6F8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303020" y="3154680"/>
            <a:ext cx="1234440" cy="1234440"/>
            <a:chOff x="0" y="0"/>
            <a:chExt cx="1645920" cy="16459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303020" y="3154680"/>
            <a:ext cx="1234440" cy="1234440"/>
            <a:chOff x="0" y="0"/>
            <a:chExt cx="1645920" cy="1645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164592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01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34440" y="4594860"/>
            <a:ext cx="4663440" cy="891540"/>
            <a:chOff x="0" y="0"/>
            <a:chExt cx="6217920" cy="11887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2179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921" r="0" b="-51921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6217920" cy="1198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Sample Efficiency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34440" y="5486400"/>
            <a:ext cx="4663440" cy="1371600"/>
            <a:chOff x="0" y="0"/>
            <a:chExt cx="6217920" cy="1828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2179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49" r="0" b="-16249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621792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4A4A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Maximize macro-F1 accuracy while spending as few of the 64 copies as possible.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624828" y="2674620"/>
            <a:ext cx="5390388" cy="4114800"/>
            <a:chOff x="0" y="0"/>
            <a:chExt cx="7187184" cy="5486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187185" cy="5486400"/>
            </a:xfrm>
            <a:custGeom>
              <a:avLst/>
              <a:gdLst/>
              <a:ahLst/>
              <a:cxnLst/>
              <a:rect r="r" b="b" t="t" l="l"/>
              <a:pathLst>
                <a:path h="5486400" w="7187185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7040880" y="0"/>
                  </a:lnTo>
                  <a:cubicBezTo>
                    <a:pt x="7121652" y="0"/>
                    <a:pt x="7187185" y="65532"/>
                    <a:pt x="7187185" y="146304"/>
                  </a:cubicBezTo>
                  <a:lnTo>
                    <a:pt x="7187185" y="5340096"/>
                  </a:lnTo>
                  <a:cubicBezTo>
                    <a:pt x="7187185" y="5420868"/>
                    <a:pt x="7121652" y="5486400"/>
                    <a:pt x="7040880" y="5486400"/>
                  </a:cubicBezTo>
                  <a:lnTo>
                    <a:pt x="146304" y="5486400"/>
                  </a:lnTo>
                  <a:cubicBezTo>
                    <a:pt x="65532" y="5486400"/>
                    <a:pt x="0" y="5420868"/>
                    <a:pt x="0" y="5340096"/>
                  </a:cubicBezTo>
                  <a:close/>
                </a:path>
              </a:pathLst>
            </a:custGeom>
            <a:solidFill>
              <a:srgbClr val="F2F6F8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104888" y="3154680"/>
            <a:ext cx="1234440" cy="1234440"/>
            <a:chOff x="0" y="0"/>
            <a:chExt cx="1645920" cy="16459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104888" y="3154680"/>
            <a:ext cx="1234440" cy="1234440"/>
            <a:chOff x="0" y="0"/>
            <a:chExt cx="1645920" cy="16459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164592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02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7036308" y="4594860"/>
            <a:ext cx="4663440" cy="891540"/>
            <a:chOff x="0" y="0"/>
            <a:chExt cx="6217920" cy="11887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2179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921" r="0" b="-51921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6217920" cy="1198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Size Independence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7036308" y="5486400"/>
            <a:ext cx="4663440" cy="1371600"/>
            <a:chOff x="0" y="0"/>
            <a:chExt cx="6217920" cy="1828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2179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49" r="0" b="-16249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621792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4A4A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Zero-shot transfer to unseen system sizes — no growth in trainable parameters.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2426696" y="2674620"/>
            <a:ext cx="5390388" cy="4114800"/>
            <a:chOff x="0" y="0"/>
            <a:chExt cx="7187184" cy="54864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187185" cy="5486400"/>
            </a:xfrm>
            <a:custGeom>
              <a:avLst/>
              <a:gdLst/>
              <a:ahLst/>
              <a:cxnLst/>
              <a:rect r="r" b="b" t="t" l="l"/>
              <a:pathLst>
                <a:path h="5486400" w="7187185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7040880" y="0"/>
                  </a:lnTo>
                  <a:cubicBezTo>
                    <a:pt x="7121652" y="0"/>
                    <a:pt x="7187185" y="65532"/>
                    <a:pt x="7187185" y="146304"/>
                  </a:cubicBezTo>
                  <a:lnTo>
                    <a:pt x="7187185" y="5340096"/>
                  </a:lnTo>
                  <a:cubicBezTo>
                    <a:pt x="7187185" y="5420868"/>
                    <a:pt x="7121652" y="5486400"/>
                    <a:pt x="7040880" y="5486400"/>
                  </a:cubicBezTo>
                  <a:lnTo>
                    <a:pt x="146304" y="5486400"/>
                  </a:lnTo>
                  <a:cubicBezTo>
                    <a:pt x="65532" y="5486400"/>
                    <a:pt x="0" y="5420868"/>
                    <a:pt x="0" y="5340096"/>
                  </a:cubicBezTo>
                  <a:close/>
                </a:path>
              </a:pathLst>
            </a:custGeom>
            <a:solidFill>
              <a:srgbClr val="F2F6F8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2906756" y="3154680"/>
            <a:ext cx="1234440" cy="1234440"/>
            <a:chOff x="0" y="0"/>
            <a:chExt cx="1645920" cy="16459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2906756" y="3154680"/>
            <a:ext cx="1234440" cy="1234440"/>
            <a:chOff x="0" y="0"/>
            <a:chExt cx="1645920" cy="16459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164592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03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838176" y="4594860"/>
            <a:ext cx="4663440" cy="891540"/>
            <a:chOff x="0" y="0"/>
            <a:chExt cx="6217920" cy="11887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2179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921" r="0" b="-51921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6217920" cy="1198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50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Impostor Detection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2838176" y="5486400"/>
            <a:ext cx="4663440" cy="1371600"/>
            <a:chOff x="0" y="0"/>
            <a:chExt cx="6217920" cy="1828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2179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49" r="0" b="-16249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621792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4A4A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Flag UNKNOWN states drawn from a different Hamiltonian family (Fermi-Hubbard).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813435" y="7259955"/>
            <a:ext cx="16615410" cy="1802130"/>
            <a:chOff x="0" y="0"/>
            <a:chExt cx="22153880" cy="24028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2153880" cy="2402840"/>
            </a:xfrm>
            <a:custGeom>
              <a:avLst/>
              <a:gdLst/>
              <a:ahLst/>
              <a:cxnLst/>
              <a:rect r="r" b="b" t="t" l="l"/>
              <a:pathLst>
                <a:path h="2402840" w="22153880">
                  <a:moveTo>
                    <a:pt x="0" y="147828"/>
                  </a:moveTo>
                  <a:cubicBezTo>
                    <a:pt x="0" y="66167"/>
                    <a:pt x="66167" y="0"/>
                    <a:pt x="147828" y="0"/>
                  </a:cubicBezTo>
                  <a:lnTo>
                    <a:pt x="22006052" y="0"/>
                  </a:lnTo>
                  <a:cubicBezTo>
                    <a:pt x="22087714" y="0"/>
                    <a:pt x="22153880" y="66167"/>
                    <a:pt x="22153880" y="147828"/>
                  </a:cubicBezTo>
                  <a:lnTo>
                    <a:pt x="22153880" y="2255012"/>
                  </a:lnTo>
                  <a:cubicBezTo>
                    <a:pt x="22153880" y="2336673"/>
                    <a:pt x="22087714" y="2402840"/>
                    <a:pt x="22006052" y="2402840"/>
                  </a:cubicBezTo>
                  <a:lnTo>
                    <a:pt x="147828" y="2402840"/>
                  </a:lnTo>
                  <a:cubicBezTo>
                    <a:pt x="66167" y="2402840"/>
                    <a:pt x="0" y="2336673"/>
                    <a:pt x="0" y="2255012"/>
                  </a:cubicBezTo>
                  <a:close/>
                </a:path>
              </a:pathLst>
            </a:custGeom>
            <a:solidFill>
              <a:srgbClr val="FFF3E6"/>
            </a:solidFill>
            <a:ln w="19050" cap="sq">
              <a:solidFill>
                <a:srgbClr val="F6D9AE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303020" y="7612380"/>
            <a:ext cx="15636240" cy="1165860"/>
            <a:chOff x="0" y="0"/>
            <a:chExt cx="20848320" cy="155448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084832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328" r="0" b="-211328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20848320" cy="16021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2129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Also required: </a:t>
              </a:r>
              <a:r>
                <a:rPr lang="en-US" sz="2325">
                  <a:solidFill>
                    <a:srgbClr val="4A4A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high accuracy near the critical phase transition (hardest region) and robustness to depolarizing noise whose strength is never announced at evaluation time.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0972800" cy="548640"/>
            <a:chOff x="0" y="0"/>
            <a:chExt cx="14630400" cy="7315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46304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299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BENCHMARK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419320" y="9710928"/>
            <a:ext cx="685800" cy="411480"/>
            <a:chOff x="0" y="0"/>
            <a:chExt cx="91440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A6B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04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11795760" cy="10287000"/>
            <a:chOff x="0" y="0"/>
            <a:chExt cx="9693811" cy="845390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693811" cy="8453905"/>
            </a:xfrm>
            <a:custGeom>
              <a:avLst/>
              <a:gdLst/>
              <a:ahLst/>
              <a:cxnLst/>
              <a:rect r="r" b="b" t="t" l="l"/>
              <a:pathLst>
                <a:path h="8453905" w="9693811">
                  <a:moveTo>
                    <a:pt x="0" y="190511"/>
                  </a:moveTo>
                  <a:cubicBezTo>
                    <a:pt x="0" y="85333"/>
                    <a:pt x="59890" y="0"/>
                    <a:pt x="133708" y="0"/>
                  </a:cubicBezTo>
                  <a:lnTo>
                    <a:pt x="9560103" y="0"/>
                  </a:lnTo>
                  <a:cubicBezTo>
                    <a:pt x="9633920" y="0"/>
                    <a:pt x="9693811" y="85333"/>
                    <a:pt x="9693811" y="190511"/>
                  </a:cubicBezTo>
                  <a:lnTo>
                    <a:pt x="9693811" y="8263394"/>
                  </a:lnTo>
                  <a:cubicBezTo>
                    <a:pt x="9693811" y="8368571"/>
                    <a:pt x="9633920" y="8453905"/>
                    <a:pt x="9560103" y="8453905"/>
                  </a:cubicBezTo>
                  <a:lnTo>
                    <a:pt x="133708" y="8453905"/>
                  </a:lnTo>
                  <a:cubicBezTo>
                    <a:pt x="59890" y="8453905"/>
                    <a:pt x="0" y="8368572"/>
                    <a:pt x="0" y="8263394"/>
                  </a:cubicBezTo>
                  <a:close/>
                </a:path>
              </a:pathLst>
            </a:custGeom>
            <a:solidFill>
              <a:srgbClr val="F2F6F8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101192" y="2821293"/>
            <a:ext cx="16085616" cy="1975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83"/>
              </a:lnSpc>
              <a:spcBef>
                <a:spcPct val="0"/>
              </a:spcBef>
            </a:pPr>
            <a:r>
              <a:rPr lang="en-US" b="true" sz="12903">
                <a:solidFill>
                  <a:srgbClr val="065A82"/>
                </a:solidFill>
                <a:latin typeface="Cambria Bold"/>
                <a:ea typeface="Cambria Bold"/>
                <a:cs typeface="Cambria Bold"/>
                <a:sym typeface="Cambria Bold"/>
              </a:rPr>
              <a:t>METHODOLOG</a:t>
            </a:r>
            <a:r>
              <a:rPr lang="en-US" b="true" sz="12903">
                <a:solidFill>
                  <a:srgbClr val="065A82"/>
                </a:solidFill>
                <a:latin typeface="Cambria Bold"/>
                <a:ea typeface="Cambria Bold"/>
                <a:cs typeface="Cambria Bold"/>
                <a:sym typeface="Cambria Bold"/>
              </a:rPr>
              <a:t>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30800" y="6200775"/>
            <a:ext cx="10734160" cy="305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79501" indent="-539750" lvl="1">
              <a:lnSpc>
                <a:spcPts val="6000"/>
              </a:lnSpc>
              <a:buAutoNum type="arabicPeriod" startAt="1"/>
            </a:pPr>
            <a:r>
              <a:rPr lang="en-US" b="true" sz="5000">
                <a:solidFill>
                  <a:srgbClr val="C0392B"/>
                </a:solidFill>
                <a:latin typeface="Cambria Bold"/>
                <a:ea typeface="Cambria Bold"/>
                <a:cs typeface="Cambria Bold"/>
                <a:sym typeface="Cambria Bold"/>
              </a:rPr>
              <a:t>Dataset &amp; Feature Extraction</a:t>
            </a:r>
          </a:p>
          <a:p>
            <a:pPr algn="l" marL="1079501" indent="-539750" lvl="1">
              <a:lnSpc>
                <a:spcPts val="6000"/>
              </a:lnSpc>
              <a:buAutoNum type="arabicPeriod" startAt="1"/>
            </a:pPr>
            <a:r>
              <a:rPr lang="en-US" b="true" sz="5000">
                <a:solidFill>
                  <a:srgbClr val="065A82"/>
                </a:solidFill>
                <a:latin typeface="Cambria Bold"/>
                <a:ea typeface="Cambria Bold"/>
                <a:cs typeface="Cambria Bold"/>
                <a:sym typeface="Cambria Bold"/>
              </a:rPr>
              <a:t>Classical Approach</a:t>
            </a:r>
          </a:p>
          <a:p>
            <a:pPr algn="l" marL="1079501" indent="-539750" lvl="1">
              <a:lnSpc>
                <a:spcPts val="6000"/>
              </a:lnSpc>
              <a:buAutoNum type="arabicPeriod" startAt="1"/>
            </a:pPr>
            <a:r>
              <a:rPr lang="en-US" b="true" sz="5000">
                <a:solidFill>
                  <a:srgbClr val="065A82"/>
                </a:solidFill>
                <a:latin typeface="Cambria Bold"/>
                <a:ea typeface="Cambria Bold"/>
                <a:cs typeface="Cambria Bold"/>
                <a:sym typeface="Cambria Bold"/>
              </a:rPr>
              <a:t>Quantum Approach</a:t>
            </a:r>
          </a:p>
          <a:p>
            <a:pPr algn="l" marL="1079501" indent="-539750" lvl="1">
              <a:lnSpc>
                <a:spcPts val="6000"/>
              </a:lnSpc>
              <a:spcBef>
                <a:spcPct val="0"/>
              </a:spcBef>
              <a:buAutoNum type="arabicPeriod" startAt="1"/>
            </a:pPr>
            <a:r>
              <a:rPr lang="en-US" b="true" sz="5000">
                <a:solidFill>
                  <a:srgbClr val="065A82"/>
                </a:solidFill>
                <a:latin typeface="Cambria Bold"/>
                <a:ea typeface="Cambria Bold"/>
                <a:cs typeface="Cambria Bold"/>
                <a:sym typeface="Cambria Bold"/>
              </a:rPr>
              <a:t> Ablation Studies &amp; Conclusion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0972800" cy="548640"/>
            <a:chOff x="0" y="0"/>
            <a:chExt cx="14630400" cy="7315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46304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299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BENCHMARK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4190268" cy="10287000"/>
            <a:chOff x="0" y="0"/>
            <a:chExt cx="10489487" cy="76041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489488" cy="7604180"/>
            </a:xfrm>
            <a:custGeom>
              <a:avLst/>
              <a:gdLst/>
              <a:ahLst/>
              <a:cxnLst/>
              <a:rect r="r" b="b" t="t" l="l"/>
              <a:pathLst>
                <a:path h="7604180" w="10489488">
                  <a:moveTo>
                    <a:pt x="0" y="171362"/>
                  </a:moveTo>
                  <a:cubicBezTo>
                    <a:pt x="0" y="76756"/>
                    <a:pt x="64806" y="0"/>
                    <a:pt x="144683" y="0"/>
                  </a:cubicBezTo>
                  <a:lnTo>
                    <a:pt x="10344805" y="0"/>
                  </a:lnTo>
                  <a:cubicBezTo>
                    <a:pt x="10424682" y="0"/>
                    <a:pt x="10489488" y="76756"/>
                    <a:pt x="10489488" y="171362"/>
                  </a:cubicBezTo>
                  <a:lnTo>
                    <a:pt x="10489488" y="7432818"/>
                  </a:lnTo>
                  <a:cubicBezTo>
                    <a:pt x="10489488" y="7527424"/>
                    <a:pt x="10424682" y="7604180"/>
                    <a:pt x="10344805" y="7604180"/>
                  </a:cubicBezTo>
                  <a:lnTo>
                    <a:pt x="144683" y="7604180"/>
                  </a:lnTo>
                  <a:cubicBezTo>
                    <a:pt x="64806" y="7604180"/>
                    <a:pt x="0" y="7527424"/>
                    <a:pt x="0" y="7432818"/>
                  </a:cubicBezTo>
                  <a:close/>
                </a:path>
              </a:pathLst>
            </a:custGeom>
            <a:solidFill>
              <a:srgbClr val="F2F6F8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-222495" y="-12041"/>
            <a:ext cx="16596360" cy="4509883"/>
            <a:chOff x="0" y="0"/>
            <a:chExt cx="22128480" cy="601317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128480" cy="6013177"/>
            </a:xfrm>
            <a:custGeom>
              <a:avLst/>
              <a:gdLst/>
              <a:ahLst/>
              <a:cxnLst/>
              <a:rect r="r" b="b" t="t" l="l"/>
              <a:pathLst>
                <a:path h="6013177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6013177"/>
                  </a:lnTo>
                  <a:lnTo>
                    <a:pt x="0" y="60131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018" r="0" b="1460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2128480" cy="60227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1101090" indent="-550545" lvl="1">
                <a:lnSpc>
                  <a:spcPts val="6120"/>
                </a:lnSpc>
                <a:buAutoNum type="arabicPeriod" startAt="1"/>
              </a:pPr>
              <a:r>
                <a:rPr lang="en-US" b="true" sz="5100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Dataset: Quantum State </a:t>
              </a:r>
            </a:p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                          &amp; Classification Task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419320" y="9710928"/>
            <a:ext cx="685800" cy="411480"/>
            <a:chOff x="0" y="0"/>
            <a:chExt cx="91440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A6B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04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028700" y="4840038"/>
            <a:ext cx="10166624" cy="2441081"/>
          </a:xfrm>
          <a:custGeom>
            <a:avLst/>
            <a:gdLst/>
            <a:ahLst/>
            <a:cxnLst/>
            <a:rect r="r" b="b" t="t" l="l"/>
            <a:pathLst>
              <a:path h="2441081" w="10166624">
                <a:moveTo>
                  <a:pt x="0" y="0"/>
                </a:moveTo>
                <a:lnTo>
                  <a:pt x="10166624" y="0"/>
                </a:lnTo>
                <a:lnTo>
                  <a:pt x="10166624" y="2441080"/>
                </a:lnTo>
                <a:lnTo>
                  <a:pt x="0" y="24410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5575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3094492" y="4949210"/>
            <a:ext cx="3017520" cy="411480"/>
            <a:chOff x="0" y="0"/>
            <a:chExt cx="4023360" cy="548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023360" cy="548640"/>
            </a:xfrm>
            <a:custGeom>
              <a:avLst/>
              <a:gdLst/>
              <a:ahLst/>
              <a:cxnLst/>
              <a:rect r="r" b="b" t="t" l="l"/>
              <a:pathLst>
                <a:path h="54864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890" r="0" b="-9289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402336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 i="true">
                  <a:solidFill>
                    <a:srgbClr val="E8871E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★ critical point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845820" y="9621393"/>
            <a:ext cx="1725930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Challenge: Only k&lt;=64 copies are available → extract informative features withouth full state tomogrophy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1795760" y="1028700"/>
            <a:ext cx="6210645" cy="8252501"/>
          </a:xfrm>
          <a:custGeom>
            <a:avLst/>
            <a:gdLst/>
            <a:ahLst/>
            <a:cxnLst/>
            <a:rect r="r" b="b" t="t" l="l"/>
            <a:pathLst>
              <a:path h="8252501" w="6210645">
                <a:moveTo>
                  <a:pt x="0" y="0"/>
                </a:moveTo>
                <a:lnTo>
                  <a:pt x="6210645" y="0"/>
                </a:lnTo>
                <a:lnTo>
                  <a:pt x="6210645" y="8252501"/>
                </a:lnTo>
                <a:lnTo>
                  <a:pt x="0" y="82525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6247" r="-204794" b="-136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419320" y="9710928"/>
            <a:ext cx="685800" cy="411480"/>
            <a:chOff x="0" y="0"/>
            <a:chExt cx="9144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A6B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04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9440" y="1379431"/>
            <a:ext cx="18258560" cy="8907569"/>
          </a:xfrm>
          <a:custGeom>
            <a:avLst/>
            <a:gdLst/>
            <a:ahLst/>
            <a:cxnLst/>
            <a:rect r="r" b="b" t="t" l="l"/>
            <a:pathLst>
              <a:path h="8907569" w="18258560">
                <a:moveTo>
                  <a:pt x="0" y="0"/>
                </a:moveTo>
                <a:lnTo>
                  <a:pt x="18258560" y="0"/>
                </a:lnTo>
                <a:lnTo>
                  <a:pt x="18258560" y="8907569"/>
                </a:lnTo>
                <a:lnTo>
                  <a:pt x="0" y="89075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275894" y="180975"/>
            <a:ext cx="11736212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4"/>
              </a:lnSpc>
              <a:spcBef>
                <a:spcPct val="0"/>
              </a:spcBef>
            </a:pPr>
            <a:r>
              <a:rPr lang="en-US" b="true" sz="5503">
                <a:solidFill>
                  <a:srgbClr val="065A82"/>
                </a:solidFill>
                <a:latin typeface="Cambria Bold"/>
                <a:ea typeface="Cambria Bold"/>
                <a:cs typeface="Cambria Bold"/>
                <a:sym typeface="Cambria Bold"/>
              </a:rPr>
              <a:t>From Raw States to Physics Features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419320" y="9710928"/>
            <a:ext cx="685800" cy="411480"/>
            <a:chOff x="0" y="0"/>
            <a:chExt cx="9144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A6B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04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9440" y="1379431"/>
            <a:ext cx="18258560" cy="8907569"/>
          </a:xfrm>
          <a:custGeom>
            <a:avLst/>
            <a:gdLst/>
            <a:ahLst/>
            <a:cxnLst/>
            <a:rect r="r" b="b" t="t" l="l"/>
            <a:pathLst>
              <a:path h="8907569" w="18258560">
                <a:moveTo>
                  <a:pt x="0" y="0"/>
                </a:moveTo>
                <a:lnTo>
                  <a:pt x="18258560" y="0"/>
                </a:lnTo>
                <a:lnTo>
                  <a:pt x="18258560" y="8907569"/>
                </a:lnTo>
                <a:lnTo>
                  <a:pt x="0" y="89075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275894" y="180975"/>
            <a:ext cx="11736212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4"/>
              </a:lnSpc>
              <a:spcBef>
                <a:spcPct val="0"/>
              </a:spcBef>
            </a:pPr>
            <a:r>
              <a:rPr lang="en-US" b="true" sz="5503">
                <a:solidFill>
                  <a:srgbClr val="065A82"/>
                </a:solidFill>
                <a:latin typeface="Cambria Bold"/>
                <a:ea typeface="Cambria Bold"/>
                <a:cs typeface="Cambria Bold"/>
                <a:sym typeface="Cambria Bold"/>
              </a:rPr>
              <a:t>From Raw States to Physics Features</a:t>
            </a:r>
          </a:p>
        </p:txBody>
      </p:sp>
      <p:grpSp>
        <p:nvGrpSpPr>
          <p:cNvPr name="Group 7" id="7"/>
          <p:cNvGrpSpPr/>
          <p:nvPr/>
        </p:nvGrpSpPr>
        <p:grpSpPr>
          <a:xfrm rot="-1057345">
            <a:off x="844118" y="2423426"/>
            <a:ext cx="15971270" cy="5408287"/>
            <a:chOff x="0" y="0"/>
            <a:chExt cx="4206425" cy="142440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06425" cy="1424405"/>
            </a:xfrm>
            <a:custGeom>
              <a:avLst/>
              <a:gdLst/>
              <a:ahLst/>
              <a:cxnLst/>
              <a:rect r="r" b="b" t="t" l="l"/>
              <a:pathLst>
                <a:path h="1424405" w="4206425">
                  <a:moveTo>
                    <a:pt x="8241" y="0"/>
                  </a:moveTo>
                  <a:lnTo>
                    <a:pt x="4198184" y="0"/>
                  </a:lnTo>
                  <a:cubicBezTo>
                    <a:pt x="4200370" y="0"/>
                    <a:pt x="4202466" y="868"/>
                    <a:pt x="4204012" y="2414"/>
                  </a:cubicBezTo>
                  <a:cubicBezTo>
                    <a:pt x="4205557" y="3959"/>
                    <a:pt x="4206425" y="6055"/>
                    <a:pt x="4206425" y="8241"/>
                  </a:cubicBezTo>
                  <a:lnTo>
                    <a:pt x="4206425" y="1416164"/>
                  </a:lnTo>
                  <a:cubicBezTo>
                    <a:pt x="4206425" y="1418350"/>
                    <a:pt x="4205557" y="1420446"/>
                    <a:pt x="4204012" y="1421991"/>
                  </a:cubicBezTo>
                  <a:cubicBezTo>
                    <a:pt x="4202466" y="1423537"/>
                    <a:pt x="4200370" y="1424405"/>
                    <a:pt x="4198184" y="1424405"/>
                  </a:cubicBezTo>
                  <a:lnTo>
                    <a:pt x="8241" y="1424405"/>
                  </a:lnTo>
                  <a:cubicBezTo>
                    <a:pt x="6055" y="1424405"/>
                    <a:pt x="3959" y="1423537"/>
                    <a:pt x="2414" y="1421991"/>
                  </a:cubicBezTo>
                  <a:cubicBezTo>
                    <a:pt x="868" y="1420446"/>
                    <a:pt x="0" y="1418350"/>
                    <a:pt x="0" y="1416164"/>
                  </a:cubicBezTo>
                  <a:lnTo>
                    <a:pt x="0" y="8241"/>
                  </a:lnTo>
                  <a:cubicBezTo>
                    <a:pt x="0" y="6055"/>
                    <a:pt x="868" y="3959"/>
                    <a:pt x="2414" y="2414"/>
                  </a:cubicBezTo>
                  <a:cubicBezTo>
                    <a:pt x="3959" y="868"/>
                    <a:pt x="6055" y="0"/>
                    <a:pt x="8241" y="0"/>
                  </a:cubicBezTo>
                  <a:close/>
                </a:path>
              </a:pathLst>
            </a:custGeom>
            <a:solidFill>
              <a:srgbClr val="BEE6D8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47650"/>
              <a:ext cx="4206425" cy="16720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400"/>
                </a:lnSpc>
              </a:pPr>
              <a:r>
                <a:rPr lang="en-US" b="true" sz="120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SCALING PROBLEM SOLVED :)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419320" y="9710928"/>
            <a:ext cx="685800" cy="411480"/>
            <a:chOff x="0" y="0"/>
            <a:chExt cx="9144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A6B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04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07618" y="2679305"/>
            <a:ext cx="11542502" cy="7464997"/>
          </a:xfrm>
          <a:custGeom>
            <a:avLst/>
            <a:gdLst/>
            <a:ahLst/>
            <a:cxnLst/>
            <a:rect r="r" b="b" t="t" l="l"/>
            <a:pathLst>
              <a:path h="7464997" w="11542502">
                <a:moveTo>
                  <a:pt x="0" y="0"/>
                </a:moveTo>
                <a:lnTo>
                  <a:pt x="11542502" y="0"/>
                </a:lnTo>
                <a:lnTo>
                  <a:pt x="11542502" y="7464997"/>
                </a:lnTo>
                <a:lnTo>
                  <a:pt x="0" y="74649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7837" t="-7236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304591" y="0"/>
            <a:ext cx="3673929" cy="10287000"/>
          </a:xfrm>
          <a:custGeom>
            <a:avLst/>
            <a:gdLst/>
            <a:ahLst/>
            <a:cxnLst/>
            <a:rect r="r" b="b" t="t" l="l"/>
            <a:pathLst>
              <a:path h="10287000" w="3673929">
                <a:moveTo>
                  <a:pt x="0" y="0"/>
                </a:moveTo>
                <a:lnTo>
                  <a:pt x="3673929" y="0"/>
                </a:lnTo>
                <a:lnTo>
                  <a:pt x="367392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64439" y="635809"/>
            <a:ext cx="7379561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0"/>
              </a:lnSpc>
              <a:spcBef>
                <a:spcPct val="0"/>
              </a:spcBef>
            </a:pPr>
            <a:r>
              <a:rPr lang="en-US" b="true" sz="8000">
                <a:solidFill>
                  <a:srgbClr val="065A82"/>
                </a:solidFill>
                <a:latin typeface="Cambria Bold"/>
                <a:ea typeface="Cambria Bold"/>
                <a:cs typeface="Cambria Bold"/>
                <a:sym typeface="Cambria Bold"/>
              </a:rPr>
              <a:t>Impostor...????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3937856" y="7760686"/>
            <a:ext cx="2359124" cy="873472"/>
            <a:chOff x="0" y="0"/>
            <a:chExt cx="621333" cy="2300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21333" cy="230050"/>
            </a:xfrm>
            <a:custGeom>
              <a:avLst/>
              <a:gdLst/>
              <a:ahLst/>
              <a:cxnLst/>
              <a:rect r="r" b="b" t="t" l="l"/>
              <a:pathLst>
                <a:path h="230050" w="621333">
                  <a:moveTo>
                    <a:pt x="115025" y="0"/>
                  </a:moveTo>
                  <a:lnTo>
                    <a:pt x="506308" y="0"/>
                  </a:lnTo>
                  <a:cubicBezTo>
                    <a:pt x="536814" y="0"/>
                    <a:pt x="566071" y="12119"/>
                    <a:pt x="587643" y="33690"/>
                  </a:cubicBezTo>
                  <a:cubicBezTo>
                    <a:pt x="609214" y="55261"/>
                    <a:pt x="621333" y="84519"/>
                    <a:pt x="621333" y="115025"/>
                  </a:cubicBezTo>
                  <a:lnTo>
                    <a:pt x="621333" y="115025"/>
                  </a:lnTo>
                  <a:cubicBezTo>
                    <a:pt x="621333" y="145532"/>
                    <a:pt x="609214" y="174789"/>
                    <a:pt x="587643" y="196360"/>
                  </a:cubicBezTo>
                  <a:cubicBezTo>
                    <a:pt x="566071" y="217932"/>
                    <a:pt x="536814" y="230050"/>
                    <a:pt x="506308" y="230050"/>
                  </a:cubicBezTo>
                  <a:lnTo>
                    <a:pt x="115025" y="230050"/>
                  </a:lnTo>
                  <a:cubicBezTo>
                    <a:pt x="84519" y="230050"/>
                    <a:pt x="55261" y="217932"/>
                    <a:pt x="33690" y="196360"/>
                  </a:cubicBezTo>
                  <a:cubicBezTo>
                    <a:pt x="12119" y="174789"/>
                    <a:pt x="0" y="145532"/>
                    <a:pt x="0" y="115025"/>
                  </a:cubicBezTo>
                  <a:lnTo>
                    <a:pt x="0" y="115025"/>
                  </a:lnTo>
                  <a:cubicBezTo>
                    <a:pt x="0" y="84519"/>
                    <a:pt x="12119" y="55261"/>
                    <a:pt x="33690" y="33690"/>
                  </a:cubicBezTo>
                  <a:cubicBezTo>
                    <a:pt x="55261" y="12119"/>
                    <a:pt x="84519" y="0"/>
                    <a:pt x="115025" y="0"/>
                  </a:cubicBezTo>
                  <a:close/>
                </a:path>
              </a:pathLst>
            </a:custGeom>
            <a:solidFill>
              <a:srgbClr val="F3C6C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85725"/>
              <a:ext cx="621333" cy="315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99"/>
                </a:lnSpc>
              </a:pP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?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643941" y="9161708"/>
            <a:ext cx="2949792" cy="873472"/>
            <a:chOff x="0" y="0"/>
            <a:chExt cx="776900" cy="2300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76900" cy="230050"/>
            </a:xfrm>
            <a:custGeom>
              <a:avLst/>
              <a:gdLst/>
              <a:ahLst/>
              <a:cxnLst/>
              <a:rect r="r" b="b" t="t" l="l"/>
              <a:pathLst>
                <a:path h="230050" w="776900">
                  <a:moveTo>
                    <a:pt x="115025" y="0"/>
                  </a:moveTo>
                  <a:lnTo>
                    <a:pt x="661875" y="0"/>
                  </a:lnTo>
                  <a:cubicBezTo>
                    <a:pt x="692381" y="0"/>
                    <a:pt x="721638" y="12119"/>
                    <a:pt x="743210" y="33690"/>
                  </a:cubicBezTo>
                  <a:cubicBezTo>
                    <a:pt x="764781" y="55261"/>
                    <a:pt x="776900" y="84519"/>
                    <a:pt x="776900" y="115025"/>
                  </a:cubicBezTo>
                  <a:lnTo>
                    <a:pt x="776900" y="115025"/>
                  </a:lnTo>
                  <a:cubicBezTo>
                    <a:pt x="776900" y="145532"/>
                    <a:pt x="764781" y="174789"/>
                    <a:pt x="743210" y="196360"/>
                  </a:cubicBezTo>
                  <a:cubicBezTo>
                    <a:pt x="721638" y="217932"/>
                    <a:pt x="692381" y="230050"/>
                    <a:pt x="661875" y="230050"/>
                  </a:cubicBezTo>
                  <a:lnTo>
                    <a:pt x="115025" y="230050"/>
                  </a:lnTo>
                  <a:cubicBezTo>
                    <a:pt x="84519" y="230050"/>
                    <a:pt x="55261" y="217932"/>
                    <a:pt x="33690" y="196360"/>
                  </a:cubicBezTo>
                  <a:cubicBezTo>
                    <a:pt x="12119" y="174789"/>
                    <a:pt x="0" y="145532"/>
                    <a:pt x="0" y="115025"/>
                  </a:cubicBezTo>
                  <a:lnTo>
                    <a:pt x="0" y="115025"/>
                  </a:lnTo>
                  <a:cubicBezTo>
                    <a:pt x="0" y="84519"/>
                    <a:pt x="12119" y="55261"/>
                    <a:pt x="33690" y="33690"/>
                  </a:cubicBezTo>
                  <a:cubicBezTo>
                    <a:pt x="55261" y="12119"/>
                    <a:pt x="84519" y="0"/>
                    <a:pt x="115025" y="0"/>
                  </a:cubicBezTo>
                  <a:close/>
                </a:path>
              </a:pathLst>
            </a:custGeom>
            <a:solidFill>
              <a:srgbClr val="F3C6C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776900" cy="315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99"/>
                </a:lnSpc>
              </a:pP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?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419320" y="9710928"/>
            <a:ext cx="685800" cy="411480"/>
            <a:chOff x="0" y="0"/>
            <a:chExt cx="9144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A6B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04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07618" y="2679305"/>
            <a:ext cx="11542502" cy="7464997"/>
          </a:xfrm>
          <a:custGeom>
            <a:avLst/>
            <a:gdLst/>
            <a:ahLst/>
            <a:cxnLst/>
            <a:rect r="r" b="b" t="t" l="l"/>
            <a:pathLst>
              <a:path h="7464997" w="11542502">
                <a:moveTo>
                  <a:pt x="0" y="0"/>
                </a:moveTo>
                <a:lnTo>
                  <a:pt x="11542502" y="0"/>
                </a:lnTo>
                <a:lnTo>
                  <a:pt x="11542502" y="7464997"/>
                </a:lnTo>
                <a:lnTo>
                  <a:pt x="0" y="74649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7837" t="-7236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304591" y="0"/>
            <a:ext cx="3673929" cy="10287000"/>
          </a:xfrm>
          <a:custGeom>
            <a:avLst/>
            <a:gdLst/>
            <a:ahLst/>
            <a:cxnLst/>
            <a:rect r="r" b="b" t="t" l="l"/>
            <a:pathLst>
              <a:path h="10287000" w="3673929">
                <a:moveTo>
                  <a:pt x="0" y="0"/>
                </a:moveTo>
                <a:lnTo>
                  <a:pt x="3673929" y="0"/>
                </a:lnTo>
                <a:lnTo>
                  <a:pt x="367392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64439" y="635809"/>
            <a:ext cx="7379561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0"/>
              </a:lnSpc>
              <a:spcBef>
                <a:spcPct val="0"/>
              </a:spcBef>
            </a:pPr>
            <a:r>
              <a:rPr lang="en-US" b="true" sz="8000">
                <a:solidFill>
                  <a:srgbClr val="065A82"/>
                </a:solidFill>
                <a:latin typeface="Cambria Bold"/>
                <a:ea typeface="Cambria Bold"/>
                <a:cs typeface="Cambria Bold"/>
                <a:sym typeface="Cambria Bold"/>
              </a:rPr>
              <a:t>Impostor...????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3937856" y="7760686"/>
            <a:ext cx="2359124" cy="873472"/>
            <a:chOff x="0" y="0"/>
            <a:chExt cx="621333" cy="2300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21333" cy="230050"/>
            </a:xfrm>
            <a:custGeom>
              <a:avLst/>
              <a:gdLst/>
              <a:ahLst/>
              <a:cxnLst/>
              <a:rect r="r" b="b" t="t" l="l"/>
              <a:pathLst>
                <a:path h="230050" w="621333">
                  <a:moveTo>
                    <a:pt x="115025" y="0"/>
                  </a:moveTo>
                  <a:lnTo>
                    <a:pt x="506308" y="0"/>
                  </a:lnTo>
                  <a:cubicBezTo>
                    <a:pt x="536814" y="0"/>
                    <a:pt x="566071" y="12119"/>
                    <a:pt x="587643" y="33690"/>
                  </a:cubicBezTo>
                  <a:cubicBezTo>
                    <a:pt x="609214" y="55261"/>
                    <a:pt x="621333" y="84519"/>
                    <a:pt x="621333" y="115025"/>
                  </a:cubicBezTo>
                  <a:lnTo>
                    <a:pt x="621333" y="115025"/>
                  </a:lnTo>
                  <a:cubicBezTo>
                    <a:pt x="621333" y="145532"/>
                    <a:pt x="609214" y="174789"/>
                    <a:pt x="587643" y="196360"/>
                  </a:cubicBezTo>
                  <a:cubicBezTo>
                    <a:pt x="566071" y="217932"/>
                    <a:pt x="536814" y="230050"/>
                    <a:pt x="506308" y="230050"/>
                  </a:cubicBezTo>
                  <a:lnTo>
                    <a:pt x="115025" y="230050"/>
                  </a:lnTo>
                  <a:cubicBezTo>
                    <a:pt x="84519" y="230050"/>
                    <a:pt x="55261" y="217932"/>
                    <a:pt x="33690" y="196360"/>
                  </a:cubicBezTo>
                  <a:cubicBezTo>
                    <a:pt x="12119" y="174789"/>
                    <a:pt x="0" y="145532"/>
                    <a:pt x="0" y="115025"/>
                  </a:cubicBezTo>
                  <a:lnTo>
                    <a:pt x="0" y="115025"/>
                  </a:lnTo>
                  <a:cubicBezTo>
                    <a:pt x="0" y="84519"/>
                    <a:pt x="12119" y="55261"/>
                    <a:pt x="33690" y="33690"/>
                  </a:cubicBezTo>
                  <a:cubicBezTo>
                    <a:pt x="55261" y="12119"/>
                    <a:pt x="84519" y="0"/>
                    <a:pt x="115025" y="0"/>
                  </a:cubicBezTo>
                  <a:close/>
                </a:path>
              </a:pathLst>
            </a:custGeom>
            <a:solidFill>
              <a:srgbClr val="F3C6C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85725"/>
              <a:ext cx="621333" cy="315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99"/>
                </a:lnSpc>
              </a:pP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?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643941" y="9161708"/>
            <a:ext cx="2949792" cy="873472"/>
            <a:chOff x="0" y="0"/>
            <a:chExt cx="776900" cy="2300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76900" cy="230050"/>
            </a:xfrm>
            <a:custGeom>
              <a:avLst/>
              <a:gdLst/>
              <a:ahLst/>
              <a:cxnLst/>
              <a:rect r="r" b="b" t="t" l="l"/>
              <a:pathLst>
                <a:path h="230050" w="776900">
                  <a:moveTo>
                    <a:pt x="115025" y="0"/>
                  </a:moveTo>
                  <a:lnTo>
                    <a:pt x="661875" y="0"/>
                  </a:lnTo>
                  <a:cubicBezTo>
                    <a:pt x="692381" y="0"/>
                    <a:pt x="721638" y="12119"/>
                    <a:pt x="743210" y="33690"/>
                  </a:cubicBezTo>
                  <a:cubicBezTo>
                    <a:pt x="764781" y="55261"/>
                    <a:pt x="776900" y="84519"/>
                    <a:pt x="776900" y="115025"/>
                  </a:cubicBezTo>
                  <a:lnTo>
                    <a:pt x="776900" y="115025"/>
                  </a:lnTo>
                  <a:cubicBezTo>
                    <a:pt x="776900" y="145532"/>
                    <a:pt x="764781" y="174789"/>
                    <a:pt x="743210" y="196360"/>
                  </a:cubicBezTo>
                  <a:cubicBezTo>
                    <a:pt x="721638" y="217932"/>
                    <a:pt x="692381" y="230050"/>
                    <a:pt x="661875" y="230050"/>
                  </a:cubicBezTo>
                  <a:lnTo>
                    <a:pt x="115025" y="230050"/>
                  </a:lnTo>
                  <a:cubicBezTo>
                    <a:pt x="84519" y="230050"/>
                    <a:pt x="55261" y="217932"/>
                    <a:pt x="33690" y="196360"/>
                  </a:cubicBezTo>
                  <a:cubicBezTo>
                    <a:pt x="12119" y="174789"/>
                    <a:pt x="0" y="145532"/>
                    <a:pt x="0" y="115025"/>
                  </a:cubicBezTo>
                  <a:lnTo>
                    <a:pt x="0" y="115025"/>
                  </a:lnTo>
                  <a:cubicBezTo>
                    <a:pt x="0" y="84519"/>
                    <a:pt x="12119" y="55261"/>
                    <a:pt x="33690" y="33690"/>
                  </a:cubicBezTo>
                  <a:cubicBezTo>
                    <a:pt x="55261" y="12119"/>
                    <a:pt x="84519" y="0"/>
                    <a:pt x="115025" y="0"/>
                  </a:cubicBezTo>
                  <a:close/>
                </a:path>
              </a:pathLst>
            </a:custGeom>
            <a:solidFill>
              <a:srgbClr val="F3C6C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776900" cy="315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99"/>
                </a:lnSpc>
              </a:pPr>
              <a:r>
                <a:rPr lang="en-US" sz="39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?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-1057345">
            <a:off x="844118" y="2423426"/>
            <a:ext cx="15971270" cy="5408287"/>
            <a:chOff x="0" y="0"/>
            <a:chExt cx="4206425" cy="142440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206425" cy="1424405"/>
            </a:xfrm>
            <a:custGeom>
              <a:avLst/>
              <a:gdLst/>
              <a:ahLst/>
              <a:cxnLst/>
              <a:rect r="r" b="b" t="t" l="l"/>
              <a:pathLst>
                <a:path h="1424405" w="4206425">
                  <a:moveTo>
                    <a:pt x="8241" y="0"/>
                  </a:moveTo>
                  <a:lnTo>
                    <a:pt x="4198184" y="0"/>
                  </a:lnTo>
                  <a:cubicBezTo>
                    <a:pt x="4200370" y="0"/>
                    <a:pt x="4202466" y="868"/>
                    <a:pt x="4204012" y="2414"/>
                  </a:cubicBezTo>
                  <a:cubicBezTo>
                    <a:pt x="4205557" y="3959"/>
                    <a:pt x="4206425" y="6055"/>
                    <a:pt x="4206425" y="8241"/>
                  </a:cubicBezTo>
                  <a:lnTo>
                    <a:pt x="4206425" y="1416164"/>
                  </a:lnTo>
                  <a:cubicBezTo>
                    <a:pt x="4206425" y="1418350"/>
                    <a:pt x="4205557" y="1420446"/>
                    <a:pt x="4204012" y="1421991"/>
                  </a:cubicBezTo>
                  <a:cubicBezTo>
                    <a:pt x="4202466" y="1423537"/>
                    <a:pt x="4200370" y="1424405"/>
                    <a:pt x="4198184" y="1424405"/>
                  </a:cubicBezTo>
                  <a:lnTo>
                    <a:pt x="8241" y="1424405"/>
                  </a:lnTo>
                  <a:cubicBezTo>
                    <a:pt x="6055" y="1424405"/>
                    <a:pt x="3959" y="1423537"/>
                    <a:pt x="2414" y="1421991"/>
                  </a:cubicBezTo>
                  <a:cubicBezTo>
                    <a:pt x="868" y="1420446"/>
                    <a:pt x="0" y="1418350"/>
                    <a:pt x="0" y="1416164"/>
                  </a:cubicBezTo>
                  <a:lnTo>
                    <a:pt x="0" y="8241"/>
                  </a:lnTo>
                  <a:cubicBezTo>
                    <a:pt x="0" y="6055"/>
                    <a:pt x="868" y="3959"/>
                    <a:pt x="2414" y="2414"/>
                  </a:cubicBezTo>
                  <a:cubicBezTo>
                    <a:pt x="3959" y="868"/>
                    <a:pt x="6055" y="0"/>
                    <a:pt x="8241" y="0"/>
                  </a:cubicBezTo>
                  <a:close/>
                </a:path>
              </a:pathLst>
            </a:custGeom>
            <a:solidFill>
              <a:srgbClr val="BEE6D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47650"/>
              <a:ext cx="4206425" cy="16720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400"/>
                </a:lnSpc>
              </a:pPr>
              <a:r>
                <a:rPr lang="en-US" b="true" sz="120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IMPOSTER PROBLEM SOLVED :)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0972800" cy="548640"/>
            <a:chOff x="0" y="0"/>
            <a:chExt cx="14630400" cy="7315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46304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299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BENCHMARK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419320" y="9710928"/>
            <a:ext cx="685800" cy="411480"/>
            <a:chOff x="0" y="0"/>
            <a:chExt cx="91440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A6B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04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11795760" cy="10287000"/>
            <a:chOff x="0" y="0"/>
            <a:chExt cx="9693811" cy="845390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693811" cy="8453905"/>
            </a:xfrm>
            <a:custGeom>
              <a:avLst/>
              <a:gdLst/>
              <a:ahLst/>
              <a:cxnLst/>
              <a:rect r="r" b="b" t="t" l="l"/>
              <a:pathLst>
                <a:path h="8453905" w="9693811">
                  <a:moveTo>
                    <a:pt x="0" y="190511"/>
                  </a:moveTo>
                  <a:cubicBezTo>
                    <a:pt x="0" y="85333"/>
                    <a:pt x="59890" y="0"/>
                    <a:pt x="133708" y="0"/>
                  </a:cubicBezTo>
                  <a:lnTo>
                    <a:pt x="9560103" y="0"/>
                  </a:lnTo>
                  <a:cubicBezTo>
                    <a:pt x="9633920" y="0"/>
                    <a:pt x="9693811" y="85333"/>
                    <a:pt x="9693811" y="190511"/>
                  </a:cubicBezTo>
                  <a:lnTo>
                    <a:pt x="9693811" y="8263394"/>
                  </a:lnTo>
                  <a:cubicBezTo>
                    <a:pt x="9693811" y="8368571"/>
                    <a:pt x="9633920" y="8453905"/>
                    <a:pt x="9560103" y="8453905"/>
                  </a:cubicBezTo>
                  <a:lnTo>
                    <a:pt x="133708" y="8453905"/>
                  </a:lnTo>
                  <a:cubicBezTo>
                    <a:pt x="59890" y="8453905"/>
                    <a:pt x="0" y="8368572"/>
                    <a:pt x="0" y="8263394"/>
                  </a:cubicBezTo>
                  <a:close/>
                </a:path>
              </a:pathLst>
            </a:custGeom>
            <a:solidFill>
              <a:srgbClr val="F2F6F8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101192" y="2821293"/>
            <a:ext cx="16085616" cy="1975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83"/>
              </a:lnSpc>
              <a:spcBef>
                <a:spcPct val="0"/>
              </a:spcBef>
            </a:pPr>
            <a:r>
              <a:rPr lang="en-US" b="true" sz="12903">
                <a:solidFill>
                  <a:srgbClr val="065A82"/>
                </a:solidFill>
                <a:latin typeface="Cambria Bold"/>
                <a:ea typeface="Cambria Bold"/>
                <a:cs typeface="Cambria Bold"/>
                <a:sym typeface="Cambria Bold"/>
              </a:rPr>
              <a:t>METHODOLOG</a:t>
            </a:r>
            <a:r>
              <a:rPr lang="en-US" b="true" sz="12903">
                <a:solidFill>
                  <a:srgbClr val="065A82"/>
                </a:solidFill>
                <a:latin typeface="Cambria Bold"/>
                <a:ea typeface="Cambria Bold"/>
                <a:cs typeface="Cambria Bold"/>
                <a:sym typeface="Cambria Bold"/>
              </a:rPr>
              <a:t>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30800" y="6200775"/>
            <a:ext cx="10734160" cy="305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79501" indent="-539750" lvl="1">
              <a:lnSpc>
                <a:spcPts val="6000"/>
              </a:lnSpc>
              <a:buAutoNum type="arabicPeriod" startAt="1"/>
            </a:pPr>
            <a:r>
              <a:rPr lang="en-US" b="true" sz="5000">
                <a:solidFill>
                  <a:srgbClr val="065A82"/>
                </a:solidFill>
                <a:latin typeface="Cambria Bold"/>
                <a:ea typeface="Cambria Bold"/>
                <a:cs typeface="Cambria Bold"/>
                <a:sym typeface="Cambria Bold"/>
              </a:rPr>
              <a:t>Dataset &amp; Feature Extraction</a:t>
            </a:r>
          </a:p>
          <a:p>
            <a:pPr algn="l" marL="1079501" indent="-539750" lvl="1">
              <a:lnSpc>
                <a:spcPts val="6000"/>
              </a:lnSpc>
              <a:buAutoNum type="arabicPeriod" startAt="1"/>
            </a:pPr>
            <a:r>
              <a:rPr lang="en-US" b="true" sz="5000">
                <a:solidFill>
                  <a:srgbClr val="C0392B"/>
                </a:solidFill>
                <a:latin typeface="Cambria Bold"/>
                <a:ea typeface="Cambria Bold"/>
                <a:cs typeface="Cambria Bold"/>
                <a:sym typeface="Cambria Bold"/>
              </a:rPr>
              <a:t>Classical Approach</a:t>
            </a:r>
          </a:p>
          <a:p>
            <a:pPr algn="l" marL="1079501" indent="-539750" lvl="1">
              <a:lnSpc>
                <a:spcPts val="6000"/>
              </a:lnSpc>
              <a:buAutoNum type="arabicPeriod" startAt="1"/>
            </a:pPr>
            <a:r>
              <a:rPr lang="en-US" b="true" sz="5000">
                <a:solidFill>
                  <a:srgbClr val="065A82"/>
                </a:solidFill>
                <a:latin typeface="Cambria Bold"/>
                <a:ea typeface="Cambria Bold"/>
                <a:cs typeface="Cambria Bold"/>
                <a:sym typeface="Cambria Bold"/>
              </a:rPr>
              <a:t>Quantum Approach</a:t>
            </a:r>
          </a:p>
          <a:p>
            <a:pPr algn="l" marL="1079501" indent="-539750" lvl="1">
              <a:lnSpc>
                <a:spcPts val="6000"/>
              </a:lnSpc>
              <a:spcBef>
                <a:spcPct val="0"/>
              </a:spcBef>
              <a:buAutoNum type="arabicPeriod" startAt="1"/>
            </a:pPr>
            <a:r>
              <a:rPr lang="en-US" b="true" sz="5000">
                <a:solidFill>
                  <a:srgbClr val="065A82"/>
                </a:solidFill>
                <a:latin typeface="Cambria Bold"/>
                <a:ea typeface="Cambria Bold"/>
                <a:cs typeface="Cambria Bold"/>
                <a:sym typeface="Cambria Bold"/>
              </a:rPr>
              <a:t> Ablation Studies &amp; Conclusion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10972800" cy="548640"/>
            <a:chOff x="0" y="0"/>
            <a:chExt cx="14630400" cy="7315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46304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9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CLASSICAL-SIDE SOLUTION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165860"/>
            <a:ext cx="11658600" cy="1234440"/>
            <a:chOff x="0" y="0"/>
            <a:chExt cx="1554480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5448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025" r="0" b="-13402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554480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839"/>
                </a:lnSpc>
              </a:pPr>
              <a:r>
                <a:rPr lang="en-US" sz="5700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The 64-Copy Problem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221992"/>
            <a:ext cx="10972800" cy="685800"/>
            <a:chOff x="0" y="0"/>
            <a:chExt cx="14630400" cy="914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630400" cy="914400"/>
            </a:xfrm>
            <a:custGeom>
              <a:avLst/>
              <a:gdLst/>
              <a:ahLst/>
              <a:cxnLst/>
              <a:rect r="r" b="b" t="t" l="l"/>
              <a:pathLst>
                <a:path h="9144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46304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i="true">
                  <a:solidFill>
                    <a:srgbClr val="5A6B8C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Budget-honest, physics-informed phase classification of the XXZ spin chain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3154680"/>
            <a:ext cx="16322040" cy="1673352"/>
            <a:chOff x="0" y="0"/>
            <a:chExt cx="21762720" cy="223113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762720" cy="2231136"/>
            </a:xfrm>
            <a:custGeom>
              <a:avLst/>
              <a:gdLst/>
              <a:ahLst/>
              <a:cxnLst/>
              <a:rect r="r" b="b" t="t" l="l"/>
              <a:pathLst>
                <a:path h="2231136" w="217627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1616415" y="0"/>
                  </a:lnTo>
                  <a:cubicBezTo>
                    <a:pt x="21697187" y="0"/>
                    <a:pt x="21762720" y="65532"/>
                    <a:pt x="21762720" y="146304"/>
                  </a:cubicBezTo>
                  <a:lnTo>
                    <a:pt x="21762720" y="2084832"/>
                  </a:lnTo>
                  <a:cubicBezTo>
                    <a:pt x="21762720" y="2165604"/>
                    <a:pt x="21697187" y="2231136"/>
                    <a:pt x="21616415" y="2231136"/>
                  </a:cubicBezTo>
                  <a:lnTo>
                    <a:pt x="146304" y="2231136"/>
                  </a:lnTo>
                  <a:cubicBezTo>
                    <a:pt x="65532" y="2231136"/>
                    <a:pt x="0" y="2165604"/>
                    <a:pt x="0" y="2084832"/>
                  </a:cubicBez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234440" y="3566160"/>
            <a:ext cx="850392" cy="850392"/>
            <a:chOff x="0" y="0"/>
            <a:chExt cx="1133856" cy="113385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234440" y="3566160"/>
            <a:ext cx="850392" cy="850392"/>
            <a:chOff x="0" y="0"/>
            <a:chExt cx="1133856" cy="113385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1133856" cy="12005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400300" y="3346704"/>
            <a:ext cx="14401800" cy="548640"/>
            <a:chOff x="0" y="0"/>
            <a:chExt cx="19202400" cy="731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9202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1482" r="0" b="-461482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192024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2129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Converting Quantum Data to Classical Data Using Measurement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2400300" y="3867912"/>
            <a:ext cx="14264640" cy="877824"/>
            <a:chOff x="0" y="0"/>
            <a:chExt cx="19019520" cy="117043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901952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6631" r="0" b="-266631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76200"/>
              <a:ext cx="19019520" cy="12466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23"/>
                </a:lnSpc>
              </a:pPr>
              <a:r>
                <a:rPr lang="en-US" sz="2174">
                  <a:solidFill>
                    <a:srgbClr val="3A3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Every sample is drawn through oracle.measure() — 64 copies per state, fixed depolarizing noise p = 0.02. The state vector is never touched directly.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22960" y="5102352"/>
            <a:ext cx="16322040" cy="1673352"/>
            <a:chOff x="0" y="0"/>
            <a:chExt cx="21762720" cy="223113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762720" cy="2231136"/>
            </a:xfrm>
            <a:custGeom>
              <a:avLst/>
              <a:gdLst/>
              <a:ahLst/>
              <a:cxnLst/>
              <a:rect r="r" b="b" t="t" l="l"/>
              <a:pathLst>
                <a:path h="2231136" w="217627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1616415" y="0"/>
                  </a:lnTo>
                  <a:cubicBezTo>
                    <a:pt x="21697187" y="0"/>
                    <a:pt x="21762720" y="65532"/>
                    <a:pt x="21762720" y="146304"/>
                  </a:cubicBezTo>
                  <a:lnTo>
                    <a:pt x="21762720" y="2084832"/>
                  </a:lnTo>
                  <a:cubicBezTo>
                    <a:pt x="21762720" y="2165604"/>
                    <a:pt x="21697187" y="2231136"/>
                    <a:pt x="21616415" y="2231136"/>
                  </a:cubicBezTo>
                  <a:lnTo>
                    <a:pt x="146304" y="2231136"/>
                  </a:lnTo>
                  <a:cubicBezTo>
                    <a:pt x="65532" y="2231136"/>
                    <a:pt x="0" y="2165604"/>
                    <a:pt x="0" y="2084832"/>
                  </a:cubicBez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234440" y="5513832"/>
            <a:ext cx="850392" cy="850392"/>
            <a:chOff x="0" y="0"/>
            <a:chExt cx="1133856" cy="113385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234440" y="5513832"/>
            <a:ext cx="850392" cy="850392"/>
            <a:chOff x="0" y="0"/>
            <a:chExt cx="1133856" cy="113385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66675"/>
              <a:ext cx="1133856" cy="12005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2400300" y="5294376"/>
            <a:ext cx="14401800" cy="548640"/>
            <a:chOff x="0" y="0"/>
            <a:chExt cx="19202400" cy="7315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9202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1482" r="0" b="-461482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192024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2129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Depolarization Noise Injection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2400300" y="5815584"/>
            <a:ext cx="14264640" cy="877824"/>
            <a:chOff x="0" y="0"/>
            <a:chExt cx="19019520" cy="117043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901952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6631" r="0" b="-26663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76200"/>
              <a:ext cx="19019520" cy="12466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23"/>
                </a:lnSpc>
              </a:pPr>
              <a:r>
                <a:rPr lang="en-US" sz="2174">
                  <a:solidFill>
                    <a:srgbClr val="3A3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Every</a:t>
              </a:r>
              <a:r>
                <a:rPr lang="en-US" sz="2174">
                  <a:solidFill>
                    <a:srgbClr val="3A3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sample is drawn through oracle.measure() — 64 copies per state, fixed depolarizing noise p = 0.02. The state vector is never touched directly.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822960" y="7050024"/>
            <a:ext cx="16322040" cy="1673352"/>
            <a:chOff x="0" y="0"/>
            <a:chExt cx="21762720" cy="223113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762720" cy="2231136"/>
            </a:xfrm>
            <a:custGeom>
              <a:avLst/>
              <a:gdLst/>
              <a:ahLst/>
              <a:cxnLst/>
              <a:rect r="r" b="b" t="t" l="l"/>
              <a:pathLst>
                <a:path h="2231136" w="217627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1616415" y="0"/>
                  </a:lnTo>
                  <a:cubicBezTo>
                    <a:pt x="21697187" y="0"/>
                    <a:pt x="21762720" y="65532"/>
                    <a:pt x="21762720" y="146304"/>
                  </a:cubicBezTo>
                  <a:lnTo>
                    <a:pt x="21762720" y="2084832"/>
                  </a:lnTo>
                  <a:cubicBezTo>
                    <a:pt x="21762720" y="2165604"/>
                    <a:pt x="21697187" y="2231136"/>
                    <a:pt x="21616415" y="2231136"/>
                  </a:cubicBezTo>
                  <a:lnTo>
                    <a:pt x="146304" y="2231136"/>
                  </a:lnTo>
                  <a:cubicBezTo>
                    <a:pt x="65532" y="2231136"/>
                    <a:pt x="0" y="2165604"/>
                    <a:pt x="0" y="2084832"/>
                  </a:cubicBez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234440" y="7461504"/>
            <a:ext cx="850392" cy="850392"/>
            <a:chOff x="0" y="0"/>
            <a:chExt cx="1133856" cy="113385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234440" y="7461504"/>
            <a:ext cx="850392" cy="850392"/>
            <a:chOff x="0" y="0"/>
            <a:chExt cx="1133856" cy="113385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0"/>
                  </a:moveTo>
                  <a:lnTo>
                    <a:pt x="1133856" y="0"/>
                  </a:lnTo>
                  <a:lnTo>
                    <a:pt x="1133856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66675"/>
              <a:ext cx="1133856" cy="12005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2400300" y="7242048"/>
            <a:ext cx="14401800" cy="548640"/>
            <a:chOff x="0" y="0"/>
            <a:chExt cx="19202400" cy="731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9202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1482" r="0" b="-461482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192024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2129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Classical Models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2400300" y="7763256"/>
            <a:ext cx="14264640" cy="877824"/>
            <a:chOff x="0" y="0"/>
            <a:chExt cx="19019520" cy="117043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901952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6631" r="0" b="-266631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76200"/>
              <a:ext cx="19019520" cy="12466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23"/>
                </a:lnSpc>
              </a:pPr>
              <a:r>
                <a:rPr lang="en-US" sz="2174">
                  <a:solidFill>
                    <a:srgbClr val="3A3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SVM (RBF), Random Forest, and Logistic Regression compared with 5-fold CV across copy budgets k = 4 → 64.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822960" y="9134856"/>
            <a:ext cx="16322040" cy="480060"/>
            <a:chOff x="0" y="0"/>
            <a:chExt cx="21762720" cy="6400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1762720" cy="640080"/>
            </a:xfrm>
            <a:custGeom>
              <a:avLst/>
              <a:gdLst/>
              <a:ahLst/>
              <a:cxnLst/>
              <a:rect r="r" b="b" t="t" l="l"/>
              <a:pathLst>
                <a:path h="64008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2491" r="0" b="-612491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2176272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8892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final_merged_data.npz  •  48 labeled states (FM / NEEL / XY)  +  12 UNKNOWN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46304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9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RESULTS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069848"/>
            <a:ext cx="13716000" cy="960120"/>
            <a:chOff x="0" y="0"/>
            <a:chExt cx="182880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2880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82880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Accuracy vs. Copy Budget &amp; Noise</a:t>
              </a:r>
            </a:p>
          </p:txBody>
        </p:sp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185166" y="1255014"/>
            <a:ext cx="12097512" cy="8668512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 rot="0">
            <a:off x="11315700" y="2263140"/>
            <a:ext cx="6172200" cy="1988820"/>
            <a:chOff x="0" y="0"/>
            <a:chExt cx="8229600" cy="26517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229600" cy="2651760"/>
            </a:xfrm>
            <a:custGeom>
              <a:avLst/>
              <a:gdLst/>
              <a:ahLst/>
              <a:cxnLst/>
              <a:rect r="r" b="b" t="t" l="l"/>
              <a:pathLst>
                <a:path h="2651760" w="822960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8101584" y="0"/>
                  </a:lnTo>
                  <a:cubicBezTo>
                    <a:pt x="8172323" y="0"/>
                    <a:pt x="8229600" y="57277"/>
                    <a:pt x="8229600" y="128016"/>
                  </a:cubicBezTo>
                  <a:lnTo>
                    <a:pt x="8229600" y="2523744"/>
                  </a:lnTo>
                  <a:cubicBezTo>
                    <a:pt x="8229600" y="2594483"/>
                    <a:pt x="8172323" y="2651760"/>
                    <a:pt x="8101584" y="2651760"/>
                  </a:cubicBezTo>
                  <a:lnTo>
                    <a:pt x="128016" y="2651760"/>
                  </a:lnTo>
                  <a:cubicBezTo>
                    <a:pt x="57277" y="2651760"/>
                    <a:pt x="0" y="2594483"/>
                    <a:pt x="0" y="2523744"/>
                  </a:cubicBez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1658600" y="2427732"/>
            <a:ext cx="5486400" cy="754380"/>
            <a:chOff x="0" y="0"/>
            <a:chExt cx="7315200" cy="10058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3152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709" r="0" b="-91709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7315200" cy="1005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065A8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100%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658600" y="3195828"/>
            <a:ext cx="5486400" cy="960120"/>
            <a:chOff x="0" y="0"/>
            <a:chExt cx="7315200" cy="12801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3152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7315200" cy="1337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6"/>
                </a:lnSpc>
              </a:pPr>
              <a:r>
                <a:rPr lang="en-US" sz="1800">
                  <a:solidFill>
                    <a:srgbClr val="3A3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Macro-F1 (SVM &amp; RF) once k ≥ 32 copies — vs. ≤93% already at k = 4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315700" y="4594860"/>
            <a:ext cx="6172200" cy="1988820"/>
            <a:chOff x="0" y="0"/>
            <a:chExt cx="8229600" cy="26517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229600" cy="2651760"/>
            </a:xfrm>
            <a:custGeom>
              <a:avLst/>
              <a:gdLst/>
              <a:ahLst/>
              <a:cxnLst/>
              <a:rect r="r" b="b" t="t" l="l"/>
              <a:pathLst>
                <a:path h="2651760" w="822960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8101584" y="0"/>
                  </a:lnTo>
                  <a:cubicBezTo>
                    <a:pt x="8172323" y="0"/>
                    <a:pt x="8229600" y="57277"/>
                    <a:pt x="8229600" y="128016"/>
                  </a:cubicBezTo>
                  <a:lnTo>
                    <a:pt x="8229600" y="2523744"/>
                  </a:lnTo>
                  <a:cubicBezTo>
                    <a:pt x="8229600" y="2594483"/>
                    <a:pt x="8172323" y="2651760"/>
                    <a:pt x="8101584" y="2651760"/>
                  </a:cubicBezTo>
                  <a:lnTo>
                    <a:pt x="128016" y="2651760"/>
                  </a:lnTo>
                  <a:cubicBezTo>
                    <a:pt x="57277" y="2651760"/>
                    <a:pt x="0" y="2594483"/>
                    <a:pt x="0" y="2523744"/>
                  </a:cubicBez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1658600" y="4759452"/>
            <a:ext cx="5486400" cy="754380"/>
            <a:chOff x="0" y="0"/>
            <a:chExt cx="7315200" cy="10058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3152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709" r="0" b="-91709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7315200" cy="1005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065A8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 ≤ 0.16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658600" y="5527548"/>
            <a:ext cx="5486400" cy="960120"/>
            <a:chOff x="0" y="0"/>
            <a:chExt cx="7315200" cy="12801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3152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7315200" cy="1337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6"/>
                </a:lnSpc>
              </a:pPr>
              <a:r>
                <a:rPr lang="en-US" sz="1800">
                  <a:solidFill>
                    <a:srgbClr val="3A3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Depolarizing noise tolerated with little F1 loss once k ≥ 16 copies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315700" y="6926580"/>
            <a:ext cx="6172200" cy="1988820"/>
            <a:chOff x="0" y="0"/>
            <a:chExt cx="8229600" cy="26517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229600" cy="2651760"/>
            </a:xfrm>
            <a:custGeom>
              <a:avLst/>
              <a:gdLst/>
              <a:ahLst/>
              <a:cxnLst/>
              <a:rect r="r" b="b" t="t" l="l"/>
              <a:pathLst>
                <a:path h="2651760" w="8229600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lnTo>
                    <a:pt x="8101584" y="0"/>
                  </a:lnTo>
                  <a:cubicBezTo>
                    <a:pt x="8172323" y="0"/>
                    <a:pt x="8229600" y="57277"/>
                    <a:pt x="8229600" y="128016"/>
                  </a:cubicBezTo>
                  <a:lnTo>
                    <a:pt x="8229600" y="2523744"/>
                  </a:lnTo>
                  <a:cubicBezTo>
                    <a:pt x="8229600" y="2594483"/>
                    <a:pt x="8172323" y="2651760"/>
                    <a:pt x="8101584" y="2651760"/>
                  </a:cubicBezTo>
                  <a:lnTo>
                    <a:pt x="128016" y="2651760"/>
                  </a:lnTo>
                  <a:cubicBezTo>
                    <a:pt x="57277" y="2651760"/>
                    <a:pt x="0" y="2594483"/>
                    <a:pt x="0" y="2523744"/>
                  </a:cubicBezTo>
                  <a:close/>
                </a:path>
              </a:pathLst>
            </a:custGeom>
            <a:solidFill>
              <a:srgbClr val="F4F7FA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1658600" y="7091172"/>
            <a:ext cx="5486400" cy="754380"/>
            <a:chOff x="0" y="0"/>
            <a:chExt cx="7315200" cy="10058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3152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709" r="0" b="-91709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7315200" cy="1005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80"/>
                </a:lnSpc>
              </a:pPr>
              <a:r>
                <a:rPr lang="en-US" sz="3900" b="true">
                  <a:solidFill>
                    <a:srgbClr val="065A8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12 / 12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1658600" y="7859268"/>
            <a:ext cx="5486400" cy="960120"/>
            <a:chOff x="0" y="0"/>
            <a:chExt cx="7315200" cy="12801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3152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343" r="0" b="-61343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7315200" cy="1337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6"/>
                </a:lnSpc>
              </a:pPr>
              <a:r>
                <a:rPr lang="en-US" sz="1800">
                  <a:solidFill>
                    <a:srgbClr val="3A3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UNKNOWN states (δ = 0, the Heisenberg point) classified as XY phase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822960" y="9395460"/>
            <a:ext cx="16596360" cy="548640"/>
            <a:chOff x="0" y="0"/>
            <a:chExt cx="22128480" cy="7315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2128480" cy="731520"/>
            </a:xfrm>
            <a:custGeom>
              <a:avLst/>
              <a:gdLst/>
              <a:ahLst/>
              <a:cxnLst/>
              <a:rect r="r" b="b" t="t" l="l"/>
              <a:pathLst>
                <a:path h="7315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422" r="0" b="-539422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221284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 i="true">
                  <a:solidFill>
                    <a:srgbClr val="88888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Every measurement drawn strictly through the copy-metered oracle — 64 copies/state, budget verified after every run.</a:t>
              </a: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313406" y="2636322"/>
            <a:ext cx="10573168" cy="5905895"/>
          </a:xfrm>
          <a:custGeom>
            <a:avLst/>
            <a:gdLst/>
            <a:ahLst/>
            <a:cxnLst/>
            <a:rect r="r" b="b" t="t" l="l"/>
            <a:pathLst>
              <a:path h="5905895" w="10573168">
                <a:moveTo>
                  <a:pt x="0" y="0"/>
                </a:moveTo>
                <a:lnTo>
                  <a:pt x="10573168" y="0"/>
                </a:lnTo>
                <a:lnTo>
                  <a:pt x="10573168" y="5905896"/>
                </a:lnTo>
                <a:lnTo>
                  <a:pt x="0" y="59058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428828" y="665932"/>
            <a:ext cx="8321040" cy="1684437"/>
            <a:chOff x="0" y="0"/>
            <a:chExt cx="11094720" cy="22459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94720" cy="2245916"/>
            </a:xfrm>
            <a:custGeom>
              <a:avLst/>
              <a:gdLst/>
              <a:ahLst/>
              <a:cxnLst/>
              <a:rect r="r" b="b" t="t" l="l"/>
              <a:pathLst>
                <a:path h="2245916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2245916"/>
                  </a:lnTo>
                  <a:lnTo>
                    <a:pt x="0" y="22459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0644" r="-31868" b="-4321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11094720" cy="23316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b="true" sz="4800" spc="681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Classical Approach</a:t>
              </a:r>
            </a:p>
            <a:p>
              <a:pPr algn="ctr">
                <a:lnSpc>
                  <a:spcPts val="5759"/>
                </a:lnSpc>
              </a:pPr>
              <a:r>
                <a:rPr lang="en-US" b="true" sz="4800" spc="685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Best Model(SVM)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19176" y="2539878"/>
            <a:ext cx="8503086" cy="6044475"/>
          </a:xfrm>
          <a:custGeom>
            <a:avLst/>
            <a:gdLst/>
            <a:ahLst/>
            <a:cxnLst/>
            <a:rect r="r" b="b" t="t" l="l"/>
            <a:pathLst>
              <a:path h="6044475" w="8503086">
                <a:moveTo>
                  <a:pt x="0" y="0"/>
                </a:moveTo>
                <a:lnTo>
                  <a:pt x="8503087" y="0"/>
                </a:lnTo>
                <a:lnTo>
                  <a:pt x="8503087" y="6044475"/>
                </a:lnTo>
                <a:lnTo>
                  <a:pt x="0" y="60444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82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589348" y="4145043"/>
            <a:ext cx="9204481" cy="3066243"/>
          </a:xfrm>
          <a:custGeom>
            <a:avLst/>
            <a:gdLst/>
            <a:ahLst/>
            <a:cxnLst/>
            <a:rect r="r" b="b" t="t" l="l"/>
            <a:pathLst>
              <a:path h="3066243" w="9204481">
                <a:moveTo>
                  <a:pt x="0" y="0"/>
                </a:moveTo>
                <a:lnTo>
                  <a:pt x="9204481" y="0"/>
                </a:lnTo>
                <a:lnTo>
                  <a:pt x="9204481" y="3066243"/>
                </a:lnTo>
                <a:lnTo>
                  <a:pt x="0" y="30662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0972800" cy="548640"/>
            <a:chOff x="0" y="0"/>
            <a:chExt cx="14630400" cy="7315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46304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299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CLASSICAL BASELINES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87552"/>
            <a:ext cx="16596360" cy="1234440"/>
            <a:chOff x="0" y="0"/>
            <a:chExt cx="2212848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965" r="0" b="-21196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2848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Classical Performance vs. Copy Budget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419320" y="9710928"/>
            <a:ext cx="685800" cy="411480"/>
            <a:chOff x="0" y="0"/>
            <a:chExt cx="91440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A6B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09</a:t>
              </a:r>
            </a:p>
          </p:txBody>
        </p:sp>
      </p:grpSp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822960" y="2674620"/>
          <a:ext cx="8915400" cy="3771900"/>
        </p:xfrm>
        <a:graphic>
          <a:graphicData uri="http://schemas.openxmlformats.org/drawingml/2006/table">
            <a:tbl>
              <a:tblPr/>
              <a:tblGrid>
                <a:gridCol w="2228850"/>
                <a:gridCol w="2228850"/>
                <a:gridCol w="2228850"/>
                <a:gridCol w="2228850"/>
              </a:tblGrid>
              <a:tr h="6286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Budget (k)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SVM (RBF)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Random Forest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Logistic Reg.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2A2A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 b="true">
                          <a:solidFill>
                            <a:srgbClr val="2A2A2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0.9559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2A2A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0.9232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2A2A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0.8737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2A2A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8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 b="true">
                          <a:solidFill>
                            <a:srgbClr val="2A2A2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0.9844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2A2A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0.9702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2A2A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0.9844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2A2A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16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 b="true">
                          <a:solidFill>
                            <a:srgbClr val="2A2A2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1.0000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2A2A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0.9492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2A2A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0.9778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2A2A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32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 b="true">
                          <a:solidFill>
                            <a:srgbClr val="2A2A2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1.0000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2A2A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1.0000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2A2A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0.9689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8"/>
                    </a:solidFill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2A2A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64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 b="true">
                          <a:solidFill>
                            <a:srgbClr val="2A2A2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1.0000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2A2A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1.0000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2A2A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0.9533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12" id="12"/>
          <p:cNvGrpSpPr/>
          <p:nvPr/>
        </p:nvGrpSpPr>
        <p:grpSpPr>
          <a:xfrm rot="0">
            <a:off x="822960" y="6281928"/>
            <a:ext cx="8983980" cy="685800"/>
            <a:chOff x="0" y="0"/>
            <a:chExt cx="11978640" cy="914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978640" cy="914400"/>
            </a:xfrm>
            <a:custGeom>
              <a:avLst/>
              <a:gdLst/>
              <a:ahLst/>
              <a:cxnLst/>
              <a:rect r="r" b="b" t="t" l="l"/>
              <a:pathLst>
                <a:path h="914400" w="11978640">
                  <a:moveTo>
                    <a:pt x="0" y="0"/>
                  </a:moveTo>
                  <a:lnTo>
                    <a:pt x="11978640" y="0"/>
                  </a:lnTo>
                  <a:lnTo>
                    <a:pt x="119786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254" r="0" b="-20525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197864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i="true">
                  <a:solidFill>
                    <a:srgbClr val="5A6B7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5-fold cross-validated macro-F1, using the 4 physics features (extract_features_at_budget).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149840" y="2674620"/>
            <a:ext cx="7269480" cy="6652260"/>
            <a:chOff x="0" y="0"/>
            <a:chExt cx="9692640" cy="88696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692640" cy="8869680"/>
            </a:xfrm>
            <a:custGeom>
              <a:avLst/>
              <a:gdLst/>
              <a:ahLst/>
              <a:cxnLst/>
              <a:rect r="r" b="b" t="t" l="l"/>
              <a:pathLst>
                <a:path h="8869680" w="969264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9546336" y="0"/>
                  </a:lnTo>
                  <a:cubicBezTo>
                    <a:pt x="9627108" y="0"/>
                    <a:pt x="9692640" y="65532"/>
                    <a:pt x="9692640" y="146304"/>
                  </a:cubicBezTo>
                  <a:lnTo>
                    <a:pt x="9692640" y="8723376"/>
                  </a:lnTo>
                  <a:cubicBezTo>
                    <a:pt x="9692640" y="8804148"/>
                    <a:pt x="9627108" y="8869680"/>
                    <a:pt x="9546336" y="8869680"/>
                  </a:cubicBezTo>
                  <a:lnTo>
                    <a:pt x="146304" y="8869680"/>
                  </a:lnTo>
                  <a:cubicBezTo>
                    <a:pt x="65532" y="8869680"/>
                    <a:pt x="0" y="8804148"/>
                    <a:pt x="0" y="8723376"/>
                  </a:cubicBezTo>
                  <a:close/>
                </a:path>
              </a:pathLst>
            </a:custGeom>
            <a:solidFill>
              <a:srgbClr val="F2F6F8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0561320" y="3017520"/>
            <a:ext cx="6583680" cy="480060"/>
            <a:chOff x="0" y="0"/>
            <a:chExt cx="8778240" cy="6400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778240" cy="640080"/>
            </a:xfrm>
            <a:custGeom>
              <a:avLst/>
              <a:gdLst/>
              <a:ahLst/>
              <a:cxnLst/>
              <a:rect r="r" b="b" t="t" l="l"/>
              <a:pathLst>
                <a:path h="64008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223" r="0" b="-21722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877824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180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WINNING MODEL — FULL-DATA SVM</a:t>
              </a:r>
            </a:p>
          </p:txBody>
        </p:sp>
      </p:grpSp>
      <p:graphicFrame>
        <p:nvGraphicFramePr>
          <p:cNvPr name="Table 20" id="20"/>
          <p:cNvGraphicFramePr>
            <a:graphicFrameLocks noGrp="true"/>
          </p:cNvGraphicFramePr>
          <p:nvPr/>
        </p:nvGraphicFramePr>
        <p:xfrm>
          <a:off x="10561320" y="3703320"/>
          <a:ext cx="6477000" cy="2476500"/>
        </p:xfrm>
        <a:graphic>
          <a:graphicData uri="http://schemas.openxmlformats.org/drawingml/2006/table">
            <a:tbl>
              <a:tblPr/>
              <a:tblGrid>
                <a:gridCol w="1619250"/>
                <a:gridCol w="1619250"/>
                <a:gridCol w="1619250"/>
                <a:gridCol w="1619250"/>
              </a:tblGrid>
              <a:tr h="4953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Class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Precision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Recall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F1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953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2A2A2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FM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A2A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1.000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A2A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1.000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A2A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1.000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2A2A2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NEEL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A2A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1.000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A2A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0.857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A2A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0.923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2A2A2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UNKNOWN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A2A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1.000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A2A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1.000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A2A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1.000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 b="true">
                          <a:solidFill>
                            <a:srgbClr val="2A2A2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XY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A2A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0.909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A2A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1.000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A2A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0.952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21" id="21"/>
          <p:cNvGrpSpPr/>
          <p:nvPr/>
        </p:nvGrpSpPr>
        <p:grpSpPr>
          <a:xfrm rot="0">
            <a:off x="10561320" y="6515100"/>
            <a:ext cx="3017520" cy="1165860"/>
            <a:chOff x="0" y="0"/>
            <a:chExt cx="4023360" cy="15544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023360" cy="1554480"/>
            </a:xfrm>
            <a:custGeom>
              <a:avLst/>
              <a:gdLst/>
              <a:ahLst/>
              <a:cxnLst/>
              <a:rect r="r" b="b" t="t" l="l"/>
              <a:pathLst>
                <a:path h="155448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1" r="0" b="-431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4023360" cy="1573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559"/>
                </a:lnSpc>
              </a:pPr>
              <a:r>
                <a:rPr lang="en-US" sz="6300" b="true">
                  <a:solidFill>
                    <a:srgbClr val="065A8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0.969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561320" y="7612380"/>
            <a:ext cx="3017520" cy="822960"/>
            <a:chOff x="0" y="0"/>
            <a:chExt cx="4023360" cy="10972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0233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402336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5A6B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macro-avg F1</a:t>
              </a:r>
            </a:p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5A6B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(48 states, full fit)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3853160" y="6515100"/>
            <a:ext cx="3017520" cy="1165860"/>
            <a:chOff x="0" y="0"/>
            <a:chExt cx="4023360" cy="15544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023360" cy="1554480"/>
            </a:xfrm>
            <a:custGeom>
              <a:avLst/>
              <a:gdLst/>
              <a:ahLst/>
              <a:cxnLst/>
              <a:rect r="r" b="b" t="t" l="l"/>
              <a:pathLst>
                <a:path h="155448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1" r="0" b="-431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4023360" cy="1573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559"/>
                </a:lnSpc>
              </a:pPr>
              <a:r>
                <a:rPr lang="en-US" sz="6300" b="true">
                  <a:solidFill>
                    <a:srgbClr val="1C7293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0.966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3853160" y="7612380"/>
            <a:ext cx="3017520" cy="822960"/>
            <a:chOff x="0" y="0"/>
            <a:chExt cx="4023360" cy="10972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0233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402336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5A6B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overall</a:t>
              </a:r>
            </a:p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5A6B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accuracy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0972800" cy="548640"/>
            <a:chOff x="0" y="0"/>
            <a:chExt cx="14630400" cy="7315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46304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299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BENCHMARK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419320" y="9710928"/>
            <a:ext cx="685800" cy="411480"/>
            <a:chOff x="0" y="0"/>
            <a:chExt cx="91440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A6B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04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11795760" cy="10287000"/>
            <a:chOff x="0" y="0"/>
            <a:chExt cx="9693811" cy="845390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693811" cy="8453905"/>
            </a:xfrm>
            <a:custGeom>
              <a:avLst/>
              <a:gdLst/>
              <a:ahLst/>
              <a:cxnLst/>
              <a:rect r="r" b="b" t="t" l="l"/>
              <a:pathLst>
                <a:path h="8453905" w="9693811">
                  <a:moveTo>
                    <a:pt x="0" y="190511"/>
                  </a:moveTo>
                  <a:cubicBezTo>
                    <a:pt x="0" y="85333"/>
                    <a:pt x="59890" y="0"/>
                    <a:pt x="133708" y="0"/>
                  </a:cubicBezTo>
                  <a:lnTo>
                    <a:pt x="9560103" y="0"/>
                  </a:lnTo>
                  <a:cubicBezTo>
                    <a:pt x="9633920" y="0"/>
                    <a:pt x="9693811" y="85333"/>
                    <a:pt x="9693811" y="190511"/>
                  </a:cubicBezTo>
                  <a:lnTo>
                    <a:pt x="9693811" y="8263394"/>
                  </a:lnTo>
                  <a:cubicBezTo>
                    <a:pt x="9693811" y="8368571"/>
                    <a:pt x="9633920" y="8453905"/>
                    <a:pt x="9560103" y="8453905"/>
                  </a:cubicBezTo>
                  <a:lnTo>
                    <a:pt x="133708" y="8453905"/>
                  </a:lnTo>
                  <a:cubicBezTo>
                    <a:pt x="59890" y="8453905"/>
                    <a:pt x="0" y="8368572"/>
                    <a:pt x="0" y="8263394"/>
                  </a:cubicBezTo>
                  <a:close/>
                </a:path>
              </a:pathLst>
            </a:custGeom>
            <a:solidFill>
              <a:srgbClr val="F2F6F8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101192" y="2821293"/>
            <a:ext cx="16085616" cy="1975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83"/>
              </a:lnSpc>
              <a:spcBef>
                <a:spcPct val="0"/>
              </a:spcBef>
            </a:pPr>
            <a:r>
              <a:rPr lang="en-US" b="true" sz="12903">
                <a:solidFill>
                  <a:srgbClr val="065A82"/>
                </a:solidFill>
                <a:latin typeface="Cambria Bold"/>
                <a:ea typeface="Cambria Bold"/>
                <a:cs typeface="Cambria Bold"/>
                <a:sym typeface="Cambria Bold"/>
              </a:rPr>
              <a:t>METHODOLOG</a:t>
            </a:r>
            <a:r>
              <a:rPr lang="en-US" b="true" sz="12903">
                <a:solidFill>
                  <a:srgbClr val="065A82"/>
                </a:solidFill>
                <a:latin typeface="Cambria Bold"/>
                <a:ea typeface="Cambria Bold"/>
                <a:cs typeface="Cambria Bold"/>
                <a:sym typeface="Cambria Bold"/>
              </a:rPr>
              <a:t>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30800" y="6200775"/>
            <a:ext cx="10734160" cy="305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79501" indent="-539750" lvl="1">
              <a:lnSpc>
                <a:spcPts val="6000"/>
              </a:lnSpc>
              <a:buAutoNum type="arabicPeriod" startAt="1"/>
            </a:pPr>
            <a:r>
              <a:rPr lang="en-US" b="true" sz="5000">
                <a:solidFill>
                  <a:srgbClr val="065A82"/>
                </a:solidFill>
                <a:latin typeface="Cambria Bold"/>
                <a:ea typeface="Cambria Bold"/>
                <a:cs typeface="Cambria Bold"/>
                <a:sym typeface="Cambria Bold"/>
              </a:rPr>
              <a:t>Dataset &amp; Feature Extraction</a:t>
            </a:r>
          </a:p>
          <a:p>
            <a:pPr algn="l" marL="1079501" indent="-539750" lvl="1">
              <a:lnSpc>
                <a:spcPts val="6000"/>
              </a:lnSpc>
              <a:buAutoNum type="arabicPeriod" startAt="1"/>
            </a:pPr>
            <a:r>
              <a:rPr lang="en-US" b="true" sz="5000">
                <a:solidFill>
                  <a:srgbClr val="065A82"/>
                </a:solidFill>
                <a:latin typeface="Cambria Bold"/>
                <a:ea typeface="Cambria Bold"/>
                <a:cs typeface="Cambria Bold"/>
                <a:sym typeface="Cambria Bold"/>
              </a:rPr>
              <a:t>Classical Approach</a:t>
            </a:r>
          </a:p>
          <a:p>
            <a:pPr algn="l" marL="1079501" indent="-539750" lvl="1">
              <a:lnSpc>
                <a:spcPts val="6000"/>
              </a:lnSpc>
              <a:buAutoNum type="arabicPeriod" startAt="1"/>
            </a:pPr>
            <a:r>
              <a:rPr lang="en-US" b="true" sz="5000">
                <a:solidFill>
                  <a:srgbClr val="C0392B"/>
                </a:solidFill>
                <a:latin typeface="Cambria Bold"/>
                <a:ea typeface="Cambria Bold"/>
                <a:cs typeface="Cambria Bold"/>
                <a:sym typeface="Cambria Bold"/>
              </a:rPr>
              <a:t>Quantum Approach</a:t>
            </a:r>
          </a:p>
          <a:p>
            <a:pPr algn="l" marL="1079501" indent="-539750" lvl="1">
              <a:lnSpc>
                <a:spcPts val="6000"/>
              </a:lnSpc>
              <a:spcBef>
                <a:spcPct val="0"/>
              </a:spcBef>
              <a:buAutoNum type="arabicPeriod" startAt="1"/>
            </a:pPr>
            <a:r>
              <a:rPr lang="en-US" b="true" sz="5000">
                <a:solidFill>
                  <a:srgbClr val="065A82"/>
                </a:solidFill>
                <a:latin typeface="Cambria Bold"/>
                <a:ea typeface="Cambria Bold"/>
                <a:cs typeface="Cambria Bold"/>
                <a:sym typeface="Cambria Bold"/>
              </a:rPr>
              <a:t> Ablation Studies &amp; Conclusion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1795760" cy="10287000"/>
            <a:chOff x="0" y="0"/>
            <a:chExt cx="9693811" cy="84539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93811" cy="8453905"/>
            </a:xfrm>
            <a:custGeom>
              <a:avLst/>
              <a:gdLst/>
              <a:ahLst/>
              <a:cxnLst/>
              <a:rect r="r" b="b" t="t" l="l"/>
              <a:pathLst>
                <a:path h="8453905" w="9693811">
                  <a:moveTo>
                    <a:pt x="0" y="190511"/>
                  </a:moveTo>
                  <a:cubicBezTo>
                    <a:pt x="0" y="85333"/>
                    <a:pt x="59890" y="0"/>
                    <a:pt x="133708" y="0"/>
                  </a:cubicBezTo>
                  <a:lnTo>
                    <a:pt x="9560103" y="0"/>
                  </a:lnTo>
                  <a:cubicBezTo>
                    <a:pt x="9633920" y="0"/>
                    <a:pt x="9693811" y="85333"/>
                    <a:pt x="9693811" y="190511"/>
                  </a:cubicBezTo>
                  <a:lnTo>
                    <a:pt x="9693811" y="8263394"/>
                  </a:lnTo>
                  <a:cubicBezTo>
                    <a:pt x="9693811" y="8368571"/>
                    <a:pt x="9633920" y="8453905"/>
                    <a:pt x="9560103" y="8453905"/>
                  </a:cubicBezTo>
                  <a:lnTo>
                    <a:pt x="133708" y="8453905"/>
                  </a:lnTo>
                  <a:cubicBezTo>
                    <a:pt x="59890" y="8453905"/>
                    <a:pt x="0" y="8368572"/>
                    <a:pt x="0" y="8263394"/>
                  </a:cubicBezTo>
                  <a:close/>
                </a:path>
              </a:pathLst>
            </a:custGeom>
            <a:solidFill>
              <a:srgbClr val="F2F6F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193970" y="809819"/>
            <a:ext cx="8321040" cy="960537"/>
            <a:chOff x="0" y="0"/>
            <a:chExt cx="11094720" cy="128071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094720" cy="1280716"/>
            </a:xfrm>
            <a:custGeom>
              <a:avLst/>
              <a:gdLst/>
              <a:ahLst/>
              <a:cxnLst/>
              <a:rect r="r" b="b" t="t" l="l"/>
              <a:pathLst>
                <a:path h="1280716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280716"/>
                  </a:lnTo>
                  <a:lnTo>
                    <a:pt x="0" y="12807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4030" r="-31868" b="-15114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85725"/>
              <a:ext cx="11094720" cy="1366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b="true" sz="4800" spc="685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QUANTUM Approach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7419320" y="9710928"/>
            <a:ext cx="685800" cy="411480"/>
            <a:chOff x="0" y="0"/>
            <a:chExt cx="914400" cy="5486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A6B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>
            <a:off x="1185863" y="4004498"/>
            <a:ext cx="28575" cy="330332"/>
          </a:xfrm>
          <a:prstGeom prst="line">
            <a:avLst/>
          </a:prstGeom>
          <a:ln cap="rnd" w="19050">
            <a:solidFill>
              <a:srgbClr val="C6D6D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1185863" y="5060630"/>
            <a:ext cx="28575" cy="330332"/>
          </a:xfrm>
          <a:prstGeom prst="line">
            <a:avLst/>
          </a:prstGeom>
          <a:ln cap="rnd" w="19050">
            <a:solidFill>
              <a:srgbClr val="C6D6D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1185863" y="6116762"/>
            <a:ext cx="28575" cy="330332"/>
          </a:xfrm>
          <a:prstGeom prst="line">
            <a:avLst/>
          </a:prstGeom>
          <a:ln cap="rnd" w="19050">
            <a:solidFill>
              <a:srgbClr val="C6D6D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1185863" y="7172894"/>
            <a:ext cx="28575" cy="330332"/>
          </a:xfrm>
          <a:prstGeom prst="line">
            <a:avLst/>
          </a:prstGeom>
          <a:ln cap="rnd" w="19050">
            <a:solidFill>
              <a:srgbClr val="C6D6D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2016621" y="1778381"/>
            <a:ext cx="1218521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7279"/>
              </a:lnSpc>
            </a:pPr>
            <a:r>
              <a:rPr lang="en-US" b="true" sz="51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Variational Quantum Classifier</a:t>
            </a:r>
            <a:r>
              <a:rPr lang="en-US" b="true" sz="51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(VQC)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879169" y="3280598"/>
            <a:ext cx="3424833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2 APPROACHES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804296" y="5547548"/>
            <a:ext cx="10710714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AutoNum type="arabicPeriod" startAt="1"/>
            </a:pPr>
            <a:r>
              <a:rPr lang="en-US" b="true" sz="32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physics-based Quantum Feature Extraction (QFE)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66465" y="6389944"/>
            <a:ext cx="11365855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AutoNum type="arabicPeriod" startAt="1"/>
            </a:pPr>
            <a:r>
              <a:rPr lang="en-US" b="true" sz="32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Quantum-Native Measurement, Classically Read Out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4943" y="4299002"/>
            <a:ext cx="18098115" cy="2605127"/>
          </a:xfrm>
          <a:custGeom>
            <a:avLst/>
            <a:gdLst/>
            <a:ahLst/>
            <a:cxnLst/>
            <a:rect r="r" b="b" t="t" l="l"/>
            <a:pathLst>
              <a:path h="2605127" w="18098115">
                <a:moveTo>
                  <a:pt x="0" y="0"/>
                </a:moveTo>
                <a:lnTo>
                  <a:pt x="18098114" y="0"/>
                </a:lnTo>
                <a:lnTo>
                  <a:pt x="18098114" y="2605127"/>
                </a:lnTo>
                <a:lnTo>
                  <a:pt x="0" y="26051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88954" y="1990138"/>
            <a:ext cx="931009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BEST APPROACH "WHY US :)”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419320" y="9710928"/>
            <a:ext cx="685800" cy="411480"/>
            <a:chOff x="0" y="0"/>
            <a:chExt cx="9144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A6B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</a:t>
              </a:r>
            </a:p>
          </p:txBody>
        </p:sp>
      </p:grpSp>
      <p:sp>
        <p:nvSpPr>
          <p:cNvPr name="AutoShape 5" id="5"/>
          <p:cNvSpPr/>
          <p:nvPr/>
        </p:nvSpPr>
        <p:spPr>
          <a:xfrm>
            <a:off x="1185863" y="7172894"/>
            <a:ext cx="28575" cy="330332"/>
          </a:xfrm>
          <a:prstGeom prst="line">
            <a:avLst/>
          </a:prstGeom>
          <a:ln cap="rnd" w="19050">
            <a:solidFill>
              <a:srgbClr val="C6D6D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554814" y="2578205"/>
            <a:ext cx="17178372" cy="7708795"/>
          </a:xfrm>
          <a:custGeom>
            <a:avLst/>
            <a:gdLst/>
            <a:ahLst/>
            <a:cxnLst/>
            <a:rect r="r" b="b" t="t" l="l"/>
            <a:pathLst>
              <a:path h="7708795" w="17178372">
                <a:moveTo>
                  <a:pt x="0" y="0"/>
                </a:moveTo>
                <a:lnTo>
                  <a:pt x="17178372" y="0"/>
                </a:lnTo>
                <a:lnTo>
                  <a:pt x="17178372" y="7708795"/>
                </a:lnTo>
                <a:lnTo>
                  <a:pt x="0" y="77087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84164" y="1246983"/>
            <a:ext cx="1451967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7279"/>
              </a:lnSpc>
            </a:pPr>
            <a:r>
              <a:rPr lang="en-US" b="true" sz="51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Variational Quantum Classifier Architecture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867227" y="362600"/>
            <a:ext cx="455354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APPROACH 02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640899" y="287856"/>
            <a:ext cx="8321040" cy="960537"/>
            <a:chOff x="0" y="0"/>
            <a:chExt cx="11094720" cy="12807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94720" cy="1280716"/>
            </a:xfrm>
            <a:custGeom>
              <a:avLst/>
              <a:gdLst/>
              <a:ahLst/>
              <a:cxnLst/>
              <a:rect r="r" b="b" t="t" l="l"/>
              <a:pathLst>
                <a:path h="1280716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280716"/>
                  </a:lnTo>
                  <a:lnTo>
                    <a:pt x="0" y="12807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4030" r="-31868" b="-15114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11094720" cy="1366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b="true" sz="4800" spc="685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QUANTUM Approach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419320" y="9710928"/>
            <a:ext cx="685800" cy="411480"/>
            <a:chOff x="0" y="0"/>
            <a:chExt cx="91440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A6B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8963293" y="1939230"/>
            <a:ext cx="9141827" cy="7319070"/>
          </a:xfrm>
          <a:custGeom>
            <a:avLst/>
            <a:gdLst/>
            <a:ahLst/>
            <a:cxnLst/>
            <a:rect r="r" b="b" t="t" l="l"/>
            <a:pathLst>
              <a:path h="7319070" w="9141827">
                <a:moveTo>
                  <a:pt x="0" y="0"/>
                </a:moveTo>
                <a:lnTo>
                  <a:pt x="9141827" y="0"/>
                </a:lnTo>
                <a:lnTo>
                  <a:pt x="9141827" y="7319070"/>
                </a:lnTo>
                <a:lnTo>
                  <a:pt x="0" y="73190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81225" y="1939230"/>
            <a:ext cx="8467955" cy="7319070"/>
          </a:xfrm>
          <a:custGeom>
            <a:avLst/>
            <a:gdLst/>
            <a:ahLst/>
            <a:cxnLst/>
            <a:rect r="r" b="b" t="t" l="l"/>
            <a:pathLst>
              <a:path h="7319070" w="8467955">
                <a:moveTo>
                  <a:pt x="0" y="0"/>
                </a:moveTo>
                <a:lnTo>
                  <a:pt x="8467955" y="0"/>
                </a:lnTo>
                <a:lnTo>
                  <a:pt x="8467955" y="7319070"/>
                </a:lnTo>
                <a:lnTo>
                  <a:pt x="0" y="73190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8343" t="-29825" r="-7648" b="-2622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1795760" cy="10287000"/>
            <a:chOff x="0" y="0"/>
            <a:chExt cx="9693811" cy="84539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93811" cy="8453905"/>
            </a:xfrm>
            <a:custGeom>
              <a:avLst/>
              <a:gdLst/>
              <a:ahLst/>
              <a:cxnLst/>
              <a:rect r="r" b="b" t="t" l="l"/>
              <a:pathLst>
                <a:path h="8453905" w="9693811">
                  <a:moveTo>
                    <a:pt x="0" y="190511"/>
                  </a:moveTo>
                  <a:cubicBezTo>
                    <a:pt x="0" y="85333"/>
                    <a:pt x="59890" y="0"/>
                    <a:pt x="133708" y="0"/>
                  </a:cubicBezTo>
                  <a:lnTo>
                    <a:pt x="9560103" y="0"/>
                  </a:lnTo>
                  <a:cubicBezTo>
                    <a:pt x="9633920" y="0"/>
                    <a:pt x="9693811" y="85333"/>
                    <a:pt x="9693811" y="190511"/>
                  </a:cubicBezTo>
                  <a:lnTo>
                    <a:pt x="9693811" y="8263394"/>
                  </a:lnTo>
                  <a:cubicBezTo>
                    <a:pt x="9693811" y="8368571"/>
                    <a:pt x="9633920" y="8453905"/>
                    <a:pt x="9560103" y="8453905"/>
                  </a:cubicBezTo>
                  <a:lnTo>
                    <a:pt x="133708" y="8453905"/>
                  </a:lnTo>
                  <a:cubicBezTo>
                    <a:pt x="59890" y="8453905"/>
                    <a:pt x="0" y="8368572"/>
                    <a:pt x="0" y="8263394"/>
                  </a:cubicBezTo>
                  <a:close/>
                </a:path>
              </a:pathLst>
            </a:custGeom>
            <a:solidFill>
              <a:srgbClr val="F2F6F8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603044" y="2533759"/>
            <a:ext cx="12560624" cy="7479001"/>
          </a:xfrm>
          <a:custGeom>
            <a:avLst/>
            <a:gdLst/>
            <a:ahLst/>
            <a:cxnLst/>
            <a:rect r="r" b="b" t="t" l="l"/>
            <a:pathLst>
              <a:path h="7479001" w="12560624">
                <a:moveTo>
                  <a:pt x="0" y="0"/>
                </a:moveTo>
                <a:lnTo>
                  <a:pt x="12560624" y="0"/>
                </a:lnTo>
                <a:lnTo>
                  <a:pt x="12560624" y="7479002"/>
                </a:lnTo>
                <a:lnTo>
                  <a:pt x="0" y="74790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730543" y="757991"/>
            <a:ext cx="6826915" cy="1220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38"/>
              </a:lnSpc>
            </a:pPr>
            <a:r>
              <a:rPr lang="en-US" b="true" sz="7027">
                <a:solidFill>
                  <a:srgbClr val="065A82"/>
                </a:solidFill>
                <a:latin typeface="Cambria Bold"/>
                <a:ea typeface="Cambria Bold"/>
                <a:cs typeface="Cambria Bold"/>
                <a:sym typeface="Cambria Bold"/>
              </a:rPr>
              <a:t>Starvation Curve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0972800" cy="548640"/>
            <a:chOff x="0" y="0"/>
            <a:chExt cx="14630400" cy="7315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46304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299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BENCHMARK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419320" y="9710928"/>
            <a:ext cx="685800" cy="411480"/>
            <a:chOff x="0" y="0"/>
            <a:chExt cx="914400" cy="5486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A6B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04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11795760" cy="10287000"/>
            <a:chOff x="0" y="0"/>
            <a:chExt cx="9693811" cy="845390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693811" cy="8453905"/>
            </a:xfrm>
            <a:custGeom>
              <a:avLst/>
              <a:gdLst/>
              <a:ahLst/>
              <a:cxnLst/>
              <a:rect r="r" b="b" t="t" l="l"/>
              <a:pathLst>
                <a:path h="8453905" w="9693811">
                  <a:moveTo>
                    <a:pt x="0" y="190511"/>
                  </a:moveTo>
                  <a:cubicBezTo>
                    <a:pt x="0" y="85333"/>
                    <a:pt x="59890" y="0"/>
                    <a:pt x="133708" y="0"/>
                  </a:cubicBezTo>
                  <a:lnTo>
                    <a:pt x="9560103" y="0"/>
                  </a:lnTo>
                  <a:cubicBezTo>
                    <a:pt x="9633920" y="0"/>
                    <a:pt x="9693811" y="85333"/>
                    <a:pt x="9693811" y="190511"/>
                  </a:cubicBezTo>
                  <a:lnTo>
                    <a:pt x="9693811" y="8263394"/>
                  </a:lnTo>
                  <a:cubicBezTo>
                    <a:pt x="9693811" y="8368571"/>
                    <a:pt x="9633920" y="8453905"/>
                    <a:pt x="9560103" y="8453905"/>
                  </a:cubicBezTo>
                  <a:lnTo>
                    <a:pt x="133708" y="8453905"/>
                  </a:lnTo>
                  <a:cubicBezTo>
                    <a:pt x="59890" y="8453905"/>
                    <a:pt x="0" y="8368572"/>
                    <a:pt x="0" y="8263394"/>
                  </a:cubicBezTo>
                  <a:close/>
                </a:path>
              </a:pathLst>
            </a:custGeom>
            <a:solidFill>
              <a:srgbClr val="F2F6F8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101192" y="2821293"/>
            <a:ext cx="16085616" cy="1975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83"/>
              </a:lnSpc>
              <a:spcBef>
                <a:spcPct val="0"/>
              </a:spcBef>
            </a:pPr>
            <a:r>
              <a:rPr lang="en-US" b="true" sz="12903">
                <a:solidFill>
                  <a:srgbClr val="065A82"/>
                </a:solidFill>
                <a:latin typeface="Cambria Bold"/>
                <a:ea typeface="Cambria Bold"/>
                <a:cs typeface="Cambria Bold"/>
                <a:sym typeface="Cambria Bold"/>
              </a:rPr>
              <a:t>METHODOLOG</a:t>
            </a:r>
            <a:r>
              <a:rPr lang="en-US" b="true" sz="12903">
                <a:solidFill>
                  <a:srgbClr val="065A82"/>
                </a:solidFill>
                <a:latin typeface="Cambria Bold"/>
                <a:ea typeface="Cambria Bold"/>
                <a:cs typeface="Cambria Bold"/>
                <a:sym typeface="Cambria Bold"/>
              </a:rPr>
              <a:t>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30800" y="6200775"/>
            <a:ext cx="10734160" cy="305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79501" indent="-539750" lvl="1">
              <a:lnSpc>
                <a:spcPts val="6000"/>
              </a:lnSpc>
              <a:buAutoNum type="arabicPeriod" startAt="1"/>
            </a:pPr>
            <a:r>
              <a:rPr lang="en-US" b="true" sz="5000">
                <a:solidFill>
                  <a:srgbClr val="065A82"/>
                </a:solidFill>
                <a:latin typeface="Cambria Bold"/>
                <a:ea typeface="Cambria Bold"/>
                <a:cs typeface="Cambria Bold"/>
                <a:sym typeface="Cambria Bold"/>
              </a:rPr>
              <a:t>Dataset &amp; Feature Extraction</a:t>
            </a:r>
          </a:p>
          <a:p>
            <a:pPr algn="l" marL="1079501" indent="-539750" lvl="1">
              <a:lnSpc>
                <a:spcPts val="6000"/>
              </a:lnSpc>
              <a:buAutoNum type="arabicPeriod" startAt="1"/>
            </a:pPr>
            <a:r>
              <a:rPr lang="en-US" b="true" sz="5000">
                <a:solidFill>
                  <a:srgbClr val="065A82"/>
                </a:solidFill>
                <a:latin typeface="Cambria Bold"/>
                <a:ea typeface="Cambria Bold"/>
                <a:cs typeface="Cambria Bold"/>
                <a:sym typeface="Cambria Bold"/>
              </a:rPr>
              <a:t>Classical Approach</a:t>
            </a:r>
          </a:p>
          <a:p>
            <a:pPr algn="l" marL="1079501" indent="-539750" lvl="1">
              <a:lnSpc>
                <a:spcPts val="6000"/>
              </a:lnSpc>
              <a:buAutoNum type="arabicPeriod" startAt="1"/>
            </a:pPr>
            <a:r>
              <a:rPr lang="en-US" b="true" sz="5000">
                <a:solidFill>
                  <a:srgbClr val="065A82"/>
                </a:solidFill>
                <a:latin typeface="Cambria Bold"/>
                <a:ea typeface="Cambria Bold"/>
                <a:cs typeface="Cambria Bold"/>
                <a:sym typeface="Cambria Bold"/>
              </a:rPr>
              <a:t>Quantum Approach</a:t>
            </a:r>
          </a:p>
          <a:p>
            <a:pPr algn="l" marL="1079501" indent="-539750" lvl="1">
              <a:lnSpc>
                <a:spcPts val="6000"/>
              </a:lnSpc>
              <a:spcBef>
                <a:spcPct val="0"/>
              </a:spcBef>
              <a:buAutoNum type="arabicPeriod" startAt="1"/>
            </a:pPr>
            <a:r>
              <a:rPr lang="en-US" b="true" sz="5000">
                <a:solidFill>
                  <a:srgbClr val="C0392B"/>
                </a:solidFill>
                <a:latin typeface="Cambria Bold"/>
                <a:ea typeface="Cambria Bold"/>
                <a:cs typeface="Cambria Bold"/>
                <a:sym typeface="Cambria Bold"/>
              </a:rPr>
              <a:t> Ablation Studies &amp; Conclusion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419320" y="9710928"/>
            <a:ext cx="685800" cy="411480"/>
            <a:chOff x="0" y="0"/>
            <a:chExt cx="9144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A6B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04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10287000"/>
            <a:chOff x="0" y="0"/>
            <a:chExt cx="15029164" cy="845390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029165" cy="8453905"/>
            </a:xfrm>
            <a:custGeom>
              <a:avLst/>
              <a:gdLst/>
              <a:ahLst/>
              <a:cxnLst/>
              <a:rect r="r" b="b" t="t" l="l"/>
              <a:pathLst>
                <a:path h="8453905" w="15029165">
                  <a:moveTo>
                    <a:pt x="0" y="190511"/>
                  </a:moveTo>
                  <a:cubicBezTo>
                    <a:pt x="0" y="85333"/>
                    <a:pt x="92853" y="0"/>
                    <a:pt x="207299" y="0"/>
                  </a:cubicBezTo>
                  <a:lnTo>
                    <a:pt x="14821866" y="0"/>
                  </a:lnTo>
                  <a:cubicBezTo>
                    <a:pt x="14936312" y="0"/>
                    <a:pt x="15029165" y="85333"/>
                    <a:pt x="15029165" y="190511"/>
                  </a:cubicBezTo>
                  <a:lnTo>
                    <a:pt x="15029165" y="8263394"/>
                  </a:lnTo>
                  <a:cubicBezTo>
                    <a:pt x="15029165" y="8368571"/>
                    <a:pt x="14936312" y="8453905"/>
                    <a:pt x="14821866" y="8453905"/>
                  </a:cubicBezTo>
                  <a:lnTo>
                    <a:pt x="207299" y="8453905"/>
                  </a:lnTo>
                  <a:cubicBezTo>
                    <a:pt x="92853" y="8453905"/>
                    <a:pt x="0" y="8368572"/>
                    <a:pt x="0" y="8263394"/>
                  </a:cubicBezTo>
                  <a:close/>
                </a:path>
              </a:pathLst>
            </a:custGeom>
            <a:solidFill>
              <a:srgbClr val="F2F6F8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2754126" y="669654"/>
            <a:ext cx="3673929" cy="5968680"/>
          </a:xfrm>
          <a:custGeom>
            <a:avLst/>
            <a:gdLst/>
            <a:ahLst/>
            <a:cxnLst/>
            <a:rect r="r" b="b" t="t" l="l"/>
            <a:pathLst>
              <a:path h="5968680" w="3673929">
                <a:moveTo>
                  <a:pt x="0" y="0"/>
                </a:moveTo>
                <a:lnTo>
                  <a:pt x="3673928" y="0"/>
                </a:lnTo>
                <a:lnTo>
                  <a:pt x="3673928" y="5968680"/>
                </a:lnTo>
                <a:lnTo>
                  <a:pt x="0" y="59686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72349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3946959"/>
            <a:ext cx="10734160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00"/>
              </a:lnSpc>
              <a:spcBef>
                <a:spcPct val="0"/>
              </a:spcBef>
            </a:pPr>
            <a:r>
              <a:rPr lang="en-US" b="true" sz="12000">
                <a:solidFill>
                  <a:srgbClr val="065A82"/>
                </a:solidFill>
                <a:latin typeface="Cambria Bold"/>
                <a:ea typeface="Cambria Bold"/>
                <a:cs typeface="Cambria Bold"/>
                <a:sym typeface="Cambria Bold"/>
              </a:rPr>
              <a:t>FULL PIPELINE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2754126" y="6638334"/>
            <a:ext cx="3673929" cy="2619966"/>
          </a:xfrm>
          <a:custGeom>
            <a:avLst/>
            <a:gdLst/>
            <a:ahLst/>
            <a:cxnLst/>
            <a:rect r="r" b="b" t="t" l="l"/>
            <a:pathLst>
              <a:path h="2619966" w="3673929">
                <a:moveTo>
                  <a:pt x="0" y="0"/>
                </a:moveTo>
                <a:lnTo>
                  <a:pt x="3673928" y="0"/>
                </a:lnTo>
                <a:lnTo>
                  <a:pt x="3673928" y="2619966"/>
                </a:lnTo>
                <a:lnTo>
                  <a:pt x="0" y="26199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92638" r="0" b="0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419320" y="9710928"/>
            <a:ext cx="685800" cy="411480"/>
            <a:chOff x="0" y="0"/>
            <a:chExt cx="9144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A6B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04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10287000"/>
            <a:chOff x="0" y="0"/>
            <a:chExt cx="15029164" cy="845390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029165" cy="8453905"/>
            </a:xfrm>
            <a:custGeom>
              <a:avLst/>
              <a:gdLst/>
              <a:ahLst/>
              <a:cxnLst/>
              <a:rect r="r" b="b" t="t" l="l"/>
              <a:pathLst>
                <a:path h="8453905" w="15029165">
                  <a:moveTo>
                    <a:pt x="0" y="190511"/>
                  </a:moveTo>
                  <a:cubicBezTo>
                    <a:pt x="0" y="85333"/>
                    <a:pt x="92853" y="0"/>
                    <a:pt x="207299" y="0"/>
                  </a:cubicBezTo>
                  <a:lnTo>
                    <a:pt x="14821866" y="0"/>
                  </a:lnTo>
                  <a:cubicBezTo>
                    <a:pt x="14936312" y="0"/>
                    <a:pt x="15029165" y="85333"/>
                    <a:pt x="15029165" y="190511"/>
                  </a:cubicBezTo>
                  <a:lnTo>
                    <a:pt x="15029165" y="8263394"/>
                  </a:lnTo>
                  <a:cubicBezTo>
                    <a:pt x="15029165" y="8368571"/>
                    <a:pt x="14936312" y="8453905"/>
                    <a:pt x="14821866" y="8453905"/>
                  </a:cubicBezTo>
                  <a:lnTo>
                    <a:pt x="207299" y="8453905"/>
                  </a:lnTo>
                  <a:cubicBezTo>
                    <a:pt x="92853" y="8453905"/>
                    <a:pt x="0" y="8368572"/>
                    <a:pt x="0" y="8263394"/>
                  </a:cubicBezTo>
                  <a:close/>
                </a:path>
              </a:pathLst>
            </a:custGeom>
            <a:solidFill>
              <a:srgbClr val="F2F6F8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326338" y="638175"/>
            <a:ext cx="10734160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  <a:spcBef>
                <a:spcPct val="0"/>
              </a:spcBef>
            </a:pPr>
            <a:r>
              <a:rPr lang="en-US" b="true" sz="5000">
                <a:solidFill>
                  <a:srgbClr val="065A82"/>
                </a:solidFill>
                <a:latin typeface="Cambria Bold"/>
                <a:ea typeface="Cambria Bold"/>
                <a:cs typeface="Cambria Bold"/>
                <a:sym typeface="Cambria Bold"/>
              </a:rPr>
              <a:t>Test Results on k =16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9055068" y="408490"/>
            <a:ext cx="5675294" cy="6327785"/>
          </a:xfrm>
          <a:custGeom>
            <a:avLst/>
            <a:gdLst/>
            <a:ahLst/>
            <a:cxnLst/>
            <a:rect r="r" b="b" t="t" l="l"/>
            <a:pathLst>
              <a:path h="6327785" w="5675294">
                <a:moveTo>
                  <a:pt x="0" y="0"/>
                </a:moveTo>
                <a:lnTo>
                  <a:pt x="5675294" y="0"/>
                </a:lnTo>
                <a:lnTo>
                  <a:pt x="5675294" y="6327785"/>
                </a:lnTo>
                <a:lnTo>
                  <a:pt x="0" y="63277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0251" r="-103633" b="-49198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37499" y="2406374"/>
            <a:ext cx="4962119" cy="5397648"/>
          </a:xfrm>
          <a:custGeom>
            <a:avLst/>
            <a:gdLst/>
            <a:ahLst/>
            <a:cxnLst/>
            <a:rect r="r" b="b" t="t" l="l"/>
            <a:pathLst>
              <a:path h="5397648" w="4962119">
                <a:moveTo>
                  <a:pt x="0" y="0"/>
                </a:moveTo>
                <a:lnTo>
                  <a:pt x="4962119" y="0"/>
                </a:lnTo>
                <a:lnTo>
                  <a:pt x="4962119" y="5397648"/>
                </a:lnTo>
                <a:lnTo>
                  <a:pt x="0" y="53976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1483" t="-9894" r="0" b="-51816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526130" y="7091729"/>
            <a:ext cx="10733170" cy="2824939"/>
          </a:xfrm>
          <a:custGeom>
            <a:avLst/>
            <a:gdLst/>
            <a:ahLst/>
            <a:cxnLst/>
            <a:rect r="r" b="b" t="t" l="l"/>
            <a:pathLst>
              <a:path h="2824939" w="10733170">
                <a:moveTo>
                  <a:pt x="0" y="0"/>
                </a:moveTo>
                <a:lnTo>
                  <a:pt x="10733170" y="0"/>
                </a:lnTo>
                <a:lnTo>
                  <a:pt x="10733170" y="2824939"/>
                </a:lnTo>
                <a:lnTo>
                  <a:pt x="0" y="28249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31708" r="0" b="0"/>
            </a:stretch>
          </a:blipFill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419320" y="9710928"/>
            <a:ext cx="685800" cy="411480"/>
            <a:chOff x="0" y="0"/>
            <a:chExt cx="9144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14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A6B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04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10287000"/>
            <a:chOff x="0" y="0"/>
            <a:chExt cx="15029164" cy="845390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029165" cy="8453905"/>
            </a:xfrm>
            <a:custGeom>
              <a:avLst/>
              <a:gdLst/>
              <a:ahLst/>
              <a:cxnLst/>
              <a:rect r="r" b="b" t="t" l="l"/>
              <a:pathLst>
                <a:path h="8453905" w="15029165">
                  <a:moveTo>
                    <a:pt x="0" y="190511"/>
                  </a:moveTo>
                  <a:cubicBezTo>
                    <a:pt x="0" y="85333"/>
                    <a:pt x="92853" y="0"/>
                    <a:pt x="207299" y="0"/>
                  </a:cubicBezTo>
                  <a:lnTo>
                    <a:pt x="14821866" y="0"/>
                  </a:lnTo>
                  <a:cubicBezTo>
                    <a:pt x="14936312" y="0"/>
                    <a:pt x="15029165" y="85333"/>
                    <a:pt x="15029165" y="190511"/>
                  </a:cubicBezTo>
                  <a:lnTo>
                    <a:pt x="15029165" y="8263394"/>
                  </a:lnTo>
                  <a:cubicBezTo>
                    <a:pt x="15029165" y="8368571"/>
                    <a:pt x="14936312" y="8453905"/>
                    <a:pt x="14821866" y="8453905"/>
                  </a:cubicBezTo>
                  <a:lnTo>
                    <a:pt x="207299" y="8453905"/>
                  </a:lnTo>
                  <a:cubicBezTo>
                    <a:pt x="92853" y="8453905"/>
                    <a:pt x="0" y="8368572"/>
                    <a:pt x="0" y="8263394"/>
                  </a:cubicBezTo>
                  <a:close/>
                </a:path>
              </a:pathLst>
            </a:custGeom>
            <a:solidFill>
              <a:srgbClr val="F2F6F8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326338" y="638175"/>
            <a:ext cx="10734160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  <a:spcBef>
                <a:spcPct val="0"/>
              </a:spcBef>
            </a:pPr>
            <a:r>
              <a:rPr lang="en-US" b="true" sz="5000">
                <a:solidFill>
                  <a:srgbClr val="065A82"/>
                </a:solidFill>
                <a:latin typeface="Cambria Bold"/>
                <a:ea typeface="Cambria Bold"/>
                <a:cs typeface="Cambria Bold"/>
                <a:sym typeface="Cambria Bold"/>
              </a:rPr>
              <a:t>Test Results on k =16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9055068" y="408490"/>
            <a:ext cx="5675294" cy="6327785"/>
          </a:xfrm>
          <a:custGeom>
            <a:avLst/>
            <a:gdLst/>
            <a:ahLst/>
            <a:cxnLst/>
            <a:rect r="r" b="b" t="t" l="l"/>
            <a:pathLst>
              <a:path h="6327785" w="5675294">
                <a:moveTo>
                  <a:pt x="0" y="0"/>
                </a:moveTo>
                <a:lnTo>
                  <a:pt x="5675294" y="0"/>
                </a:lnTo>
                <a:lnTo>
                  <a:pt x="5675294" y="6327785"/>
                </a:lnTo>
                <a:lnTo>
                  <a:pt x="0" y="63277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0251" r="-103633" b="-49198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37499" y="2406374"/>
            <a:ext cx="4962119" cy="5397648"/>
          </a:xfrm>
          <a:custGeom>
            <a:avLst/>
            <a:gdLst/>
            <a:ahLst/>
            <a:cxnLst/>
            <a:rect r="r" b="b" t="t" l="l"/>
            <a:pathLst>
              <a:path h="5397648" w="4962119">
                <a:moveTo>
                  <a:pt x="0" y="0"/>
                </a:moveTo>
                <a:lnTo>
                  <a:pt x="4962119" y="0"/>
                </a:lnTo>
                <a:lnTo>
                  <a:pt x="4962119" y="5397648"/>
                </a:lnTo>
                <a:lnTo>
                  <a:pt x="0" y="53976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1483" t="-9894" r="0" b="-51816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526130" y="7091729"/>
            <a:ext cx="10733170" cy="2824939"/>
          </a:xfrm>
          <a:custGeom>
            <a:avLst/>
            <a:gdLst/>
            <a:ahLst/>
            <a:cxnLst/>
            <a:rect r="r" b="b" t="t" l="l"/>
            <a:pathLst>
              <a:path h="2824939" w="10733170">
                <a:moveTo>
                  <a:pt x="0" y="0"/>
                </a:moveTo>
                <a:lnTo>
                  <a:pt x="10733170" y="0"/>
                </a:lnTo>
                <a:lnTo>
                  <a:pt x="10733170" y="2824939"/>
                </a:lnTo>
                <a:lnTo>
                  <a:pt x="0" y="28249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31708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-1057345">
            <a:off x="844118" y="2423426"/>
            <a:ext cx="15971270" cy="5408287"/>
            <a:chOff x="0" y="0"/>
            <a:chExt cx="4206425" cy="142440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206425" cy="1424405"/>
            </a:xfrm>
            <a:custGeom>
              <a:avLst/>
              <a:gdLst/>
              <a:ahLst/>
              <a:cxnLst/>
              <a:rect r="r" b="b" t="t" l="l"/>
              <a:pathLst>
                <a:path h="1424405" w="4206425">
                  <a:moveTo>
                    <a:pt x="8241" y="0"/>
                  </a:moveTo>
                  <a:lnTo>
                    <a:pt x="4198184" y="0"/>
                  </a:lnTo>
                  <a:cubicBezTo>
                    <a:pt x="4200370" y="0"/>
                    <a:pt x="4202466" y="868"/>
                    <a:pt x="4204012" y="2414"/>
                  </a:cubicBezTo>
                  <a:cubicBezTo>
                    <a:pt x="4205557" y="3959"/>
                    <a:pt x="4206425" y="6055"/>
                    <a:pt x="4206425" y="8241"/>
                  </a:cubicBezTo>
                  <a:lnTo>
                    <a:pt x="4206425" y="1416164"/>
                  </a:lnTo>
                  <a:cubicBezTo>
                    <a:pt x="4206425" y="1418350"/>
                    <a:pt x="4205557" y="1420446"/>
                    <a:pt x="4204012" y="1421991"/>
                  </a:cubicBezTo>
                  <a:cubicBezTo>
                    <a:pt x="4202466" y="1423537"/>
                    <a:pt x="4200370" y="1424405"/>
                    <a:pt x="4198184" y="1424405"/>
                  </a:cubicBezTo>
                  <a:lnTo>
                    <a:pt x="8241" y="1424405"/>
                  </a:lnTo>
                  <a:cubicBezTo>
                    <a:pt x="6055" y="1424405"/>
                    <a:pt x="3959" y="1423537"/>
                    <a:pt x="2414" y="1421991"/>
                  </a:cubicBezTo>
                  <a:cubicBezTo>
                    <a:pt x="868" y="1420446"/>
                    <a:pt x="0" y="1418350"/>
                    <a:pt x="0" y="1416164"/>
                  </a:cubicBezTo>
                  <a:lnTo>
                    <a:pt x="0" y="8241"/>
                  </a:lnTo>
                  <a:cubicBezTo>
                    <a:pt x="0" y="6055"/>
                    <a:pt x="868" y="3959"/>
                    <a:pt x="2414" y="2414"/>
                  </a:cubicBezTo>
                  <a:cubicBezTo>
                    <a:pt x="3959" y="868"/>
                    <a:pt x="6055" y="0"/>
                    <a:pt x="8241" y="0"/>
                  </a:cubicBezTo>
                  <a:close/>
                </a:path>
              </a:pathLst>
            </a:custGeom>
            <a:solidFill>
              <a:srgbClr val="BEE6D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47650"/>
              <a:ext cx="4206425" cy="16720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400"/>
                </a:lnSpc>
              </a:pPr>
              <a:r>
                <a:rPr lang="en-US" b="true" sz="120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GOOD RESULTS, VOTE FOR US!! :)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42280" cy="164592"/>
            <a:chOff x="0" y="0"/>
            <a:chExt cx="24323040" cy="2194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23039" cy="219456"/>
            </a:xfrm>
            <a:custGeom>
              <a:avLst/>
              <a:gdLst/>
              <a:ahLst/>
              <a:cxnLst/>
              <a:rect r="r" b="b" t="t" l="l"/>
              <a:pathLst>
                <a:path h="219456" w="24323039">
                  <a:moveTo>
                    <a:pt x="0" y="0"/>
                  </a:moveTo>
                  <a:lnTo>
                    <a:pt x="24323039" y="0"/>
                  </a:lnTo>
                  <a:lnTo>
                    <a:pt x="24323039" y="219456"/>
                  </a:lnTo>
                  <a:lnTo>
                    <a:pt x="0" y="219456"/>
                  </a:lnTo>
                  <a:close/>
                </a:path>
              </a:pathLst>
            </a:custGeom>
            <a:solidFill>
              <a:srgbClr val="02C39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5867" y="1941629"/>
            <a:ext cx="5028014" cy="4839551"/>
            <a:chOff x="0" y="0"/>
            <a:chExt cx="6704019" cy="645273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704019" cy="6452735"/>
            </a:xfrm>
            <a:custGeom>
              <a:avLst/>
              <a:gdLst/>
              <a:ahLst/>
              <a:cxnLst/>
              <a:rect r="r" b="b" t="t" l="l"/>
              <a:pathLst>
                <a:path h="6452735" w="6704019">
                  <a:moveTo>
                    <a:pt x="0" y="0"/>
                  </a:moveTo>
                  <a:lnTo>
                    <a:pt x="6704019" y="0"/>
                  </a:lnTo>
                  <a:lnTo>
                    <a:pt x="6704019" y="6452735"/>
                  </a:lnTo>
                  <a:lnTo>
                    <a:pt x="0" y="645273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02" t="0" r="-902" b="758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6704019" cy="6471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919"/>
                </a:lnSpc>
              </a:pPr>
              <a:r>
                <a:rPr lang="en-US" b="true" sz="6599">
                  <a:solidFill>
                    <a:srgbClr val="065A8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Thank You 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72821" y="5327884"/>
            <a:ext cx="8289063" cy="822960"/>
            <a:chOff x="0" y="0"/>
            <a:chExt cx="11052083" cy="10972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052084" cy="1097280"/>
            </a:xfrm>
            <a:custGeom>
              <a:avLst/>
              <a:gdLst/>
              <a:ahLst/>
              <a:cxnLst/>
              <a:rect r="r" b="b" t="t" l="l"/>
              <a:pathLst>
                <a:path h="1097280" w="11052084">
                  <a:moveTo>
                    <a:pt x="0" y="0"/>
                  </a:moveTo>
                  <a:lnTo>
                    <a:pt x="11052084" y="0"/>
                  </a:lnTo>
                  <a:lnTo>
                    <a:pt x="11052084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0031" r="0" b="-39003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1052083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60"/>
                </a:lnSpc>
              </a:pPr>
              <a:r>
                <a:rPr lang="en-US" sz="2800" i="true">
                  <a:solidFill>
                    <a:srgbClr val="065A82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“Quantum data is scarce — but we showed it's enough.”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 rot="31560">
            <a:off x="1215304" y="6642735"/>
            <a:ext cx="4153071" cy="0"/>
          </a:xfrm>
          <a:prstGeom prst="line">
            <a:avLst/>
          </a:prstGeom>
          <a:ln cap="rnd" w="19050">
            <a:solidFill>
              <a:srgbClr val="02C39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572821" y="6989777"/>
            <a:ext cx="13716000" cy="548640"/>
            <a:chOff x="0" y="0"/>
            <a:chExt cx="18288000" cy="731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28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828800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b="true" sz="2699">
                  <a:solidFill>
                    <a:srgbClr val="065A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 Beyond64  —  Nadia · Menna · Basmala · Omar · Shady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0018085" y="1555564"/>
            <a:ext cx="7674005" cy="6705162"/>
          </a:xfrm>
          <a:custGeom>
            <a:avLst/>
            <a:gdLst/>
            <a:ahLst/>
            <a:cxnLst/>
            <a:rect r="r" b="b" t="t" l="l"/>
            <a:pathLst>
              <a:path h="6705162" w="7674005">
                <a:moveTo>
                  <a:pt x="0" y="0"/>
                </a:moveTo>
                <a:lnTo>
                  <a:pt x="7674005" y="0"/>
                </a:lnTo>
                <a:lnTo>
                  <a:pt x="7674005" y="6705162"/>
                </a:lnTo>
                <a:lnTo>
                  <a:pt x="0" y="6705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DAHUlqXa37s</dc:identifier>
  <dcterms:modified xsi:type="dcterms:W3CDTF">2011-08-01T06:04:30Z</dcterms:modified>
  <cp:revision>1</cp:revision>
  <dc:title>The_64_Copy_Problem.pptx</dc:title>
</cp:coreProperties>
</file>